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7" r:id="rId4"/>
    <p:sldId id="258" r:id="rId5"/>
    <p:sldId id="259" r:id="rId6"/>
    <p:sldId id="260" r:id="rId7"/>
    <p:sldId id="261" r:id="rId8"/>
    <p:sldId id="268" r:id="rId9"/>
    <p:sldId id="262" r:id="rId10"/>
    <p:sldId id="264" r:id="rId11"/>
    <p:sldId id="269" r:id="rId12"/>
  </p:sldIdLst>
  <p:sldSz cx="9144000" cy="5143500" type="screen16x9"/>
  <p:notesSz cx="7099300" cy="1023461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1010"/>
    <a:srgbClr val="8A7272"/>
    <a:srgbClr val="8B1C1C"/>
    <a:srgbClr val="FF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874" y="1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0098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35" tIns="55468" rIns="110935" bIns="5546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35" tIns="55468" rIns="110935" bIns="55468"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35" tIns="55468" rIns="110935" bIns="5546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35" tIns="55468" rIns="110935" bIns="55468"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4956B-F358-2CDF-C929-69EACCF34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11FAFB-AC50-D990-B9E4-93F501C3C4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E7F18B-5FBF-C777-B649-8D78EFAF91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110935" tIns="55468" rIns="110935" bIns="55468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EC1377-511C-6230-8DC4-58FD0C1CE5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110935" tIns="55468" rIns="110935" bIns="55468"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1941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35" tIns="55468" rIns="110935" bIns="5546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35" tIns="55468" rIns="110935" bIns="55468"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35" tIns="55468" rIns="110935" bIns="5546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35" tIns="55468" rIns="110935" bIns="55468"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35" tIns="55468" rIns="110935" bIns="5546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35" tIns="55468" rIns="110935" bIns="55468"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35" tIns="55468" rIns="110935" bIns="5546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35" tIns="55468" rIns="110935" bIns="55468"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221CD-8A9E-CC45-11E4-175851CC2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1BAF93-213F-BA66-6E9B-D2EFE12535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F5C644-1242-0088-C00E-054A2A65D6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110935" tIns="55468" rIns="110935" bIns="55468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AFDF07-C221-3F5F-D0CD-01FA5A3AAF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110935" tIns="55468" rIns="110935" bIns="55468"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6174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35" tIns="55468" rIns="110935" bIns="5546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35" tIns="55468" rIns="110935" bIns="55468"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35" tIns="55468" rIns="110935" bIns="5546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35" tIns="55468" rIns="110935" bIns="55468"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90A3B-2D5E-3142-E4EA-6E34B7BC1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EC2A34-7D0D-291B-AA55-D8F37368CB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4238B5-175A-C6E5-884A-0EF79E4013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110935" tIns="55468" rIns="110935" bIns="55468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20002C-ABBF-366E-5A93-927F8BC33E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110935" tIns="55468" rIns="110935" bIns="55468"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73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8B1C1C"/>
          </a:solidFill>
          <a:ln w="12700">
            <a:solidFill>
              <a:srgbClr val="6B141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7543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5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◈  </a:t>
            </a:r>
            <a:r>
              <a:rPr lang="en-US" sz="1200" b="1" kern="0" spc="50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GPS TRACKER</a:t>
            </a:r>
            <a:endParaRPr lang="en-US" sz="1200" b="1" dirty="0"/>
          </a:p>
        </p:txBody>
      </p:sp>
      <p:sp>
        <p:nvSpPr>
          <p:cNvPr id="4" name="Text 2"/>
          <p:cNvSpPr/>
          <p:nvPr/>
        </p:nvSpPr>
        <p:spPr>
          <a:xfrm>
            <a:off x="502920" y="107442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latin typeface="Meiryo" pitchFamily="34" charset="0"/>
                <a:ea typeface="Meiryo" pitchFamily="34" charset="-122"/>
                <a:cs typeface="Meiryo" pitchFamily="34" charset="-120"/>
              </a:rPr>
              <a:t>操作マニュアル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02920" y="18973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latin typeface="Meiryo" pitchFamily="34" charset="0"/>
                <a:ea typeface="Meiryo" pitchFamily="34" charset="-122"/>
                <a:cs typeface="Meiryo" pitchFamily="34" charset="-120"/>
              </a:rPr>
              <a:t>GPS 軌跡ビューア ＆ 配布エリア管理ツール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2697480"/>
            <a:ext cx="548640" cy="27432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512064" y="3307492"/>
            <a:ext cx="3703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ja-JP" altLang="en-US" sz="1100">
                <a:latin typeface="Meiryo" pitchFamily="34" charset="0"/>
                <a:ea typeface="Meiryo" pitchFamily="34" charset="-122"/>
                <a:cs typeface="Meiryo" pitchFamily="34" charset="-120"/>
              </a:rPr>
              <a:t>＜主な機能＞</a:t>
            </a:r>
            <a:endParaRPr lang="en-US" sz="1100">
              <a:latin typeface="Meiryo" pitchFamily="34" charset="0"/>
              <a:ea typeface="Meiryo" pitchFamily="34" charset="-122"/>
              <a:cs typeface="Meiryo" pitchFamily="34" charset="-120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1100">
                <a:latin typeface="Meiryo" pitchFamily="34" charset="0"/>
                <a:ea typeface="Meiryo" pitchFamily="34" charset="-122"/>
                <a:cs typeface="Meiryo" pitchFamily="34" charset="-120"/>
              </a:rPr>
              <a:t>📂  </a:t>
            </a:r>
            <a:r>
              <a:rPr lang="en-US" sz="1100" dirty="0">
                <a:latin typeface="Meiryo" pitchFamily="34" charset="0"/>
                <a:ea typeface="Meiryo" pitchFamily="34" charset="-122"/>
                <a:cs typeface="Meiryo" pitchFamily="34" charset="-120"/>
              </a:rPr>
              <a:t>GPX ファイルの一括読み込みと軌跡表示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>
                <a:latin typeface="Meiryo" pitchFamily="34" charset="0"/>
                <a:ea typeface="Meiryo" pitchFamily="34" charset="-122"/>
                <a:cs typeface="Meiryo" pitchFamily="34" charset="-120"/>
              </a:rPr>
              <a:t>🎨  移動速度による透過度の自動調整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>
                <a:latin typeface="Meiryo" pitchFamily="34" charset="0"/>
                <a:ea typeface="Meiryo" pitchFamily="34" charset="-122"/>
                <a:cs typeface="Meiryo" pitchFamily="34" charset="-120"/>
              </a:rPr>
              <a:t>🗺  境界データの重ね合わせ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latin typeface="Meiryo" pitchFamily="34" charset="0"/>
                <a:ea typeface="Meiryo" pitchFamily="34" charset="-122"/>
                <a:cs typeface="Meiryo" pitchFamily="34" charset="-120"/>
              </a:rPr>
              <a:t>📊  住所コード </a:t>
            </a:r>
            <a:r>
              <a:rPr lang="en-US" sz="1100">
                <a:latin typeface="Meiryo" pitchFamily="34" charset="0"/>
                <a:ea typeface="Meiryo" pitchFamily="34" charset="-122"/>
                <a:cs typeface="Meiryo" pitchFamily="34" charset="-120"/>
              </a:rPr>
              <a:t>CSV による町丁目ハイライト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latin typeface="Meiryo" pitchFamily="34" charset="0"/>
                <a:ea typeface="Meiryo" pitchFamily="34" charset="-122"/>
                <a:cs typeface="Meiryo" pitchFamily="34" charset="-120"/>
              </a:rPr>
              <a:t>📍  クリック・ホバーによる地点情報の即時表示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60920" y="227076"/>
            <a:ext cx="1554480" cy="347472"/>
          </a:xfrm>
          <a:prstGeom prst="rect">
            <a:avLst/>
          </a:prstGeom>
          <a:solidFill>
            <a:srgbClr val="8B1C1C"/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7360920" y="227076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OpenStreetMap 版</a:t>
            </a:r>
            <a:endParaRPr lang="en-US" sz="1000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BF2B474-D05C-FB06-2832-2B311CBF85CA}"/>
              </a:ext>
            </a:extLst>
          </p:cNvPr>
          <p:cNvSpPr txBox="1"/>
          <p:nvPr/>
        </p:nvSpPr>
        <p:spPr>
          <a:xfrm>
            <a:off x="512064" y="2688553"/>
            <a:ext cx="633984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100">
                <a:latin typeface="メイリオ" panose="020B0604030504040204" pitchFamily="50" charset="-128"/>
                <a:ea typeface="メイリオ" panose="020B0604030504040204" pitchFamily="50" charset="-128"/>
              </a:rPr>
              <a:t>GPS</a:t>
            </a:r>
            <a:r>
              <a:rPr kumimoji="1" lang="ja-JP" altLang="en-US" sz="1100">
                <a:latin typeface="メイリオ" panose="020B0604030504040204" pitchFamily="50" charset="-128"/>
                <a:ea typeface="メイリオ" panose="020B0604030504040204" pitchFamily="50" charset="-128"/>
              </a:rPr>
              <a:t>トラッカーはオープンソースを利用した</a:t>
            </a:r>
            <a:r>
              <a:rPr kumimoji="1" lang="ja-JP" altLang="en-US" sz="110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「完全無料」</a:t>
            </a:r>
            <a:r>
              <a:rPr kumimoji="1" lang="ja-JP" altLang="en-US" sz="1100">
                <a:latin typeface="メイリオ" panose="020B0604030504040204" pitchFamily="50" charset="-128"/>
                <a:ea typeface="メイリオ" panose="020B0604030504040204" pitchFamily="50" charset="-128"/>
              </a:rPr>
              <a:t>の</a:t>
            </a:r>
            <a:r>
              <a:rPr kumimoji="1" lang="en-US" altLang="ja-JP" sz="1100">
                <a:latin typeface="メイリオ" panose="020B0604030504040204" pitchFamily="50" charset="-128"/>
                <a:ea typeface="メイリオ" panose="020B0604030504040204" pitchFamily="50" charset="-128"/>
              </a:rPr>
              <a:t>GPS</a:t>
            </a:r>
            <a:r>
              <a:rPr kumimoji="1" lang="ja-JP" altLang="en-US" sz="1100">
                <a:latin typeface="メイリオ" panose="020B0604030504040204" pitchFamily="50" charset="-128"/>
                <a:ea typeface="メイリオ" panose="020B0604030504040204" pitchFamily="50" charset="-128"/>
              </a:rPr>
              <a:t>チェックツールです。</a:t>
            </a:r>
            <a:endParaRPr kumimoji="1" lang="en-US" altLang="ja-JP" sz="110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en-US" altLang="ja-JP" sz="1100">
                <a:latin typeface="メイリオ" panose="020B0604030504040204" pitchFamily="50" charset="-128"/>
                <a:ea typeface="メイリオ" panose="020B0604030504040204" pitchFamily="50" charset="-128"/>
              </a:rPr>
              <a:t>JPMD</a:t>
            </a:r>
            <a:r>
              <a:rPr kumimoji="1" lang="ja-JP" altLang="en-US" sz="1100">
                <a:latin typeface="メイリオ" panose="020B0604030504040204" pitchFamily="50" charset="-128"/>
                <a:ea typeface="メイリオ" panose="020B0604030504040204" pitchFamily="50" charset="-128"/>
              </a:rPr>
              <a:t>エリアプラスの配布管理にご活用ください。</a:t>
            </a:r>
            <a:endParaRPr kumimoji="1" lang="en-US" altLang="ja-JP" sz="11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404B3A2-4F32-E70D-E9D7-5B560A0F4367}"/>
              </a:ext>
            </a:extLst>
          </p:cNvPr>
          <p:cNvSpPr txBox="1"/>
          <p:nvPr/>
        </p:nvSpPr>
        <p:spPr>
          <a:xfrm>
            <a:off x="7256206" y="4620184"/>
            <a:ext cx="176390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ja-JP" sz="1050">
                <a:latin typeface="メイリオ" panose="020B0604030504040204" pitchFamily="50" charset="-128"/>
                <a:ea typeface="メイリオ" panose="020B0604030504040204" pitchFamily="50" charset="-128"/>
              </a:rPr>
              <a:t>2026.6.18</a:t>
            </a:r>
          </a:p>
          <a:p>
            <a:pPr algn="r"/>
            <a:r>
              <a:rPr kumimoji="1" lang="en-US" altLang="ja-JP" sz="1050">
                <a:latin typeface="メイリオ" panose="020B0604030504040204" pitchFamily="50" charset="-128"/>
                <a:ea typeface="メイリオ" panose="020B0604030504040204" pitchFamily="50" charset="-128"/>
              </a:rPr>
              <a:t>Version2.0</a:t>
            </a:r>
            <a:endParaRPr kumimoji="1" lang="ja-JP" altLang="en-US" sz="105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0"/>
          <p:cNvSpPr/>
          <p:nvPr/>
        </p:nvSpPr>
        <p:spPr>
          <a:xfrm>
            <a:off x="3101340" y="1196340"/>
            <a:ext cx="5768340" cy="3581400"/>
          </a:xfrm>
          <a:prstGeom prst="rect">
            <a:avLst/>
          </a:prstGeom>
          <a:solidFill>
            <a:srgbClr val="F6F2F2"/>
          </a:solidFill>
          <a:ln w="19050">
            <a:solidFill>
              <a:srgbClr val="DDD0D0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4" name="図 33">
            <a:extLst>
              <a:ext uri="{FF2B5EF4-FFF2-40B4-BE49-F238E27FC236}">
                <a16:creationId xmlns:a16="http://schemas.microsoft.com/office/drawing/2014/main" id="{45709712-4765-A9A9-29AE-7B2C3796CC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372" y="1422728"/>
            <a:ext cx="5230296" cy="3088673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8B1C1C"/>
          </a:solidFill>
          <a:ln w="12700">
            <a:solidFill>
              <a:srgbClr val="8B1C1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01168" y="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画面構成の説明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96774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A72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画面エリア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1196340"/>
            <a:ext cx="256032" cy="256032"/>
          </a:xfrm>
          <a:prstGeom prst="ellipse">
            <a:avLst/>
          </a:prstGeom>
          <a:solidFill>
            <a:srgbClr val="8B1C1C"/>
          </a:solidFill>
          <a:ln w="12700">
            <a:solidFill>
              <a:srgbClr val="8B1C1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274320" y="11963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1792" y="119634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0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ヘッダー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" y="1409700"/>
            <a:ext cx="2479548" cy="1165860"/>
          </a:xfrm>
          <a:prstGeom prst="rect">
            <a:avLst/>
          </a:prstGeom>
          <a:noFill/>
          <a:ln/>
        </p:spPr>
        <p:txBody>
          <a:bodyPr wrap="square" rtlCol="0" anchor="t" anchorCtr="0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72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ファイル読み込みボタン（GPX・境界</a:t>
            </a:r>
            <a:r>
              <a:rPr lang="en-US" sz="1000">
                <a:solidFill>
                  <a:srgbClr val="8A72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・住所コード）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ja-JP" altLang="en-US" sz="1000">
                <a:solidFill>
                  <a:srgbClr val="8A7272"/>
                </a:solidFill>
                <a:latin typeface="Meiryo" pitchFamily="34" charset="0"/>
                <a:ea typeface="Meiryo" pitchFamily="34" charset="-122"/>
              </a:rPr>
              <a:t>画面切り替え（航空写真）</a:t>
            </a:r>
            <a:endParaRPr lang="en-US" altLang="ja-JP" sz="1000">
              <a:solidFill>
                <a:srgbClr val="8A7272"/>
              </a:solidFill>
              <a:latin typeface="Meiryo" pitchFamily="34" charset="0"/>
              <a:ea typeface="Meiryo" pitchFamily="34" charset="-122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ja-JP" altLang="en-US" sz="1000">
                <a:solidFill>
                  <a:srgbClr val="8A7272"/>
                </a:solidFill>
                <a:latin typeface="Meiryo" pitchFamily="34" charset="0"/>
                <a:ea typeface="Meiryo" pitchFamily="34" charset="-122"/>
              </a:rPr>
              <a:t>住所検索（住所検索窓</a:t>
            </a:r>
            <a:r>
              <a:rPr lang="en-US" sz="1000">
                <a:solidFill>
                  <a:srgbClr val="8A72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・住所表示欄</a:t>
            </a:r>
            <a:r>
              <a:rPr lang="ja-JP" altLang="en-US" sz="1000">
                <a:solidFill>
                  <a:srgbClr val="8A72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423160"/>
            <a:ext cx="256032" cy="256032"/>
          </a:xfrm>
          <a:prstGeom prst="ellipse">
            <a:avLst/>
          </a:prstGeom>
          <a:solidFill>
            <a:srgbClr val="8B1C1C"/>
          </a:solidFill>
          <a:ln w="12700">
            <a:solidFill>
              <a:srgbClr val="8B1C1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274320" y="24231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21792" y="242316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0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サイドバー（左パネル）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1792" y="26974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72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端末一覧・表示切替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72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境界設定・住所コードリスト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72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絞り込み検索・一括表示/非表示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429000"/>
            <a:ext cx="256032" cy="256032"/>
          </a:xfrm>
          <a:prstGeom prst="ellipse">
            <a:avLst/>
          </a:prstGeom>
          <a:solidFill>
            <a:srgbClr val="8B1C1C"/>
          </a:solidFill>
          <a:ln w="12700">
            <a:solidFill>
              <a:srgbClr val="8B1C1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274320" y="34290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1792" y="342900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0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地図エリア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" y="37033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72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GPS 軌跡・マーカーの描画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72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クリックで住所取得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72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ホバーで端末情報ツールチップ</a:t>
            </a:r>
            <a:endParaRPr lang="en-US" sz="1000" dirty="0"/>
          </a:p>
        </p:txBody>
      </p:sp>
      <p:sp>
        <p:nvSpPr>
          <p:cNvPr id="27" name="フリーフォーム: 図形 26">
            <a:extLst>
              <a:ext uri="{FF2B5EF4-FFF2-40B4-BE49-F238E27FC236}">
                <a16:creationId xmlns:a16="http://schemas.microsoft.com/office/drawing/2014/main" id="{7550075F-CA01-BABA-3386-628E37F2BC9A}"/>
              </a:ext>
            </a:extLst>
          </p:cNvPr>
          <p:cNvSpPr/>
          <p:nvPr/>
        </p:nvSpPr>
        <p:spPr>
          <a:xfrm>
            <a:off x="1504335" y="1271557"/>
            <a:ext cx="2770485" cy="302342"/>
          </a:xfrm>
          <a:custGeom>
            <a:avLst/>
            <a:gdLst>
              <a:gd name="csX0" fmla="*/ 0 w 2971800"/>
              <a:gd name="csY0" fmla="*/ 0 h 302342"/>
              <a:gd name="csX1" fmla="*/ 2426110 w 2971800"/>
              <a:gd name="csY1" fmla="*/ 0 h 302342"/>
              <a:gd name="csX2" fmla="*/ 2971800 w 2971800"/>
              <a:gd name="csY2" fmla="*/ 302342 h 3023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971800" h="302342">
                <a:moveTo>
                  <a:pt x="0" y="0"/>
                </a:moveTo>
                <a:lnTo>
                  <a:pt x="2426110" y="0"/>
                </a:lnTo>
                <a:lnTo>
                  <a:pt x="2971800" y="302342"/>
                </a:lnTo>
              </a:path>
            </a:pathLst>
          </a:cu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フリーフォーム: 図形 27">
            <a:extLst>
              <a:ext uri="{FF2B5EF4-FFF2-40B4-BE49-F238E27FC236}">
                <a16:creationId xmlns:a16="http://schemas.microsoft.com/office/drawing/2014/main" id="{6D7AC51A-E580-24A3-BA50-C04378E49E08}"/>
              </a:ext>
            </a:extLst>
          </p:cNvPr>
          <p:cNvSpPr/>
          <p:nvPr/>
        </p:nvSpPr>
        <p:spPr>
          <a:xfrm>
            <a:off x="2418735" y="2539672"/>
            <a:ext cx="1246239" cy="302342"/>
          </a:xfrm>
          <a:custGeom>
            <a:avLst/>
            <a:gdLst>
              <a:gd name="csX0" fmla="*/ 0 w 1246239"/>
              <a:gd name="csY0" fmla="*/ 0 h 302342"/>
              <a:gd name="csX1" fmla="*/ 678426 w 1246239"/>
              <a:gd name="csY1" fmla="*/ 0 h 302342"/>
              <a:gd name="csX2" fmla="*/ 1246239 w 1246239"/>
              <a:gd name="csY2" fmla="*/ 302342 h 3023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246239" h="302342">
                <a:moveTo>
                  <a:pt x="0" y="0"/>
                </a:moveTo>
                <a:lnTo>
                  <a:pt x="678426" y="0"/>
                </a:lnTo>
                <a:lnTo>
                  <a:pt x="1246239" y="302342"/>
                </a:lnTo>
              </a:path>
            </a:pathLst>
          </a:cu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フリーフォーム: 図形 28">
            <a:extLst>
              <a:ext uri="{FF2B5EF4-FFF2-40B4-BE49-F238E27FC236}">
                <a16:creationId xmlns:a16="http://schemas.microsoft.com/office/drawing/2014/main" id="{8F2D9366-AEA4-CC7F-5AD8-D7CB5276AC60}"/>
              </a:ext>
            </a:extLst>
          </p:cNvPr>
          <p:cNvSpPr/>
          <p:nvPr/>
        </p:nvSpPr>
        <p:spPr>
          <a:xfrm>
            <a:off x="1644445" y="3549937"/>
            <a:ext cx="3753465" cy="383458"/>
          </a:xfrm>
          <a:custGeom>
            <a:avLst/>
            <a:gdLst>
              <a:gd name="csX0" fmla="*/ 0 w 3753465"/>
              <a:gd name="csY0" fmla="*/ 0 h 383458"/>
              <a:gd name="csX1" fmla="*/ 1563329 w 3753465"/>
              <a:gd name="csY1" fmla="*/ 0 h 383458"/>
              <a:gd name="csX2" fmla="*/ 3753465 w 3753465"/>
              <a:gd name="csY2" fmla="*/ 383458 h 38345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753465" h="383458">
                <a:moveTo>
                  <a:pt x="0" y="0"/>
                </a:moveTo>
                <a:lnTo>
                  <a:pt x="1563329" y="0"/>
                </a:lnTo>
                <a:lnTo>
                  <a:pt x="3753465" y="383458"/>
                </a:lnTo>
              </a:path>
            </a:pathLst>
          </a:cu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671EA-14BE-E16F-4DC6-B555632DB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0">
            <a:extLst>
              <a:ext uri="{FF2B5EF4-FFF2-40B4-BE49-F238E27FC236}">
                <a16:creationId xmlns:a16="http://schemas.microsoft.com/office/drawing/2014/main" id="{808DBBFC-1AD8-632C-535C-6A29F25CD498}"/>
              </a:ext>
            </a:extLst>
          </p:cNvPr>
          <p:cNvSpPr/>
          <p:nvPr/>
        </p:nvSpPr>
        <p:spPr>
          <a:xfrm>
            <a:off x="117987" y="1709929"/>
            <a:ext cx="8893278" cy="3348768"/>
          </a:xfrm>
          <a:prstGeom prst="rect">
            <a:avLst/>
          </a:prstGeom>
          <a:solidFill>
            <a:srgbClr val="F6F2F2"/>
          </a:solidFill>
          <a:ln w="19050">
            <a:solidFill>
              <a:srgbClr val="DDD0D0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6F86A60F-96D3-2BCF-A899-A1A7DD3E6049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8B1C1C"/>
          </a:solidFill>
          <a:ln w="12700">
            <a:solidFill>
              <a:srgbClr val="8B1C1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80CE2D8-109E-BF09-D167-179F87DD4FC3}"/>
              </a:ext>
            </a:extLst>
          </p:cNvPr>
          <p:cNvSpPr/>
          <p:nvPr/>
        </p:nvSpPr>
        <p:spPr>
          <a:xfrm>
            <a:off x="201168" y="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FFFFFF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48E9AEB-31AE-1A94-E32C-8CB6CE3E4813}"/>
              </a:ext>
            </a:extLst>
          </p:cNvPr>
          <p:cNvSpPr/>
          <p:nvPr/>
        </p:nvSpPr>
        <p:spPr>
          <a:xfrm>
            <a:off x="658368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ja-JP" sz="1500" b="1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GPX</a:t>
            </a:r>
            <a:r>
              <a:rPr lang="ja-JP" altLang="en-US" sz="1500" b="1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データの出力</a:t>
            </a:r>
            <a:endParaRPr lang="en-US" altLang="ja-JP" sz="15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EF646ED-7548-6DEE-2422-4761C6C37506}"/>
              </a:ext>
            </a:extLst>
          </p:cNvPr>
          <p:cNvSpPr/>
          <p:nvPr/>
        </p:nvSpPr>
        <p:spPr>
          <a:xfrm>
            <a:off x="274320" y="64008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800" kern="0" spc="200">
                <a:solidFill>
                  <a:srgbClr val="8A72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手順</a:t>
            </a:r>
            <a:endParaRPr lang="en-US" sz="8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6EF018B-F497-32AE-629E-ED068148A5F7}"/>
              </a:ext>
            </a:extLst>
          </p:cNvPr>
          <p:cNvSpPr/>
          <p:nvPr/>
        </p:nvSpPr>
        <p:spPr>
          <a:xfrm>
            <a:off x="621792" y="86868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ja-JP" sz="1200" b="1">
                <a:solidFill>
                  <a:srgbClr val="1C1010"/>
                </a:solidFill>
                <a:latin typeface="Meiryo" pitchFamily="34" charset="0"/>
                <a:ea typeface="Meiryo" pitchFamily="34" charset="-122"/>
              </a:rPr>
              <a:t>GPX</a:t>
            </a:r>
            <a:r>
              <a:rPr lang="ja-JP" altLang="en-US" sz="1200" b="1">
                <a:solidFill>
                  <a:srgbClr val="1C1010"/>
                </a:solidFill>
                <a:latin typeface="Meiryo" pitchFamily="34" charset="0"/>
                <a:ea typeface="Meiryo" pitchFamily="34" charset="-122"/>
              </a:rPr>
              <a:t>データ出力方法</a:t>
            </a:r>
            <a:endParaRPr lang="en-US" sz="1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7ED9A42-5D37-95AF-7DE2-AD45B702BBB8}"/>
              </a:ext>
            </a:extLst>
          </p:cNvPr>
          <p:cNvSpPr/>
          <p:nvPr/>
        </p:nvSpPr>
        <p:spPr>
          <a:xfrm>
            <a:off x="621792" y="1143000"/>
            <a:ext cx="6571488" cy="548640"/>
          </a:xfrm>
          <a:prstGeom prst="rect">
            <a:avLst/>
          </a:prstGeom>
          <a:noFill/>
          <a:ln/>
        </p:spPr>
        <p:txBody>
          <a:bodyPr wrap="square" rtlCol="0" anchor="t" anchorCtr="0"/>
          <a:lstStyle/>
          <a:p>
            <a:pPr marL="0" indent="0">
              <a:lnSpc>
                <a:spcPct val="130000"/>
              </a:lnSpc>
              <a:buNone/>
            </a:pPr>
            <a:r>
              <a:rPr lang="en-US" altLang="ja-JP" sz="1000">
                <a:solidFill>
                  <a:srgbClr val="8A72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 pitchFamily="34" charset="-120"/>
              </a:rPr>
              <a:t>GPS</a:t>
            </a:r>
            <a:r>
              <a:rPr lang="ja-JP" altLang="en-US" sz="1000">
                <a:solidFill>
                  <a:srgbClr val="8A72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 pitchFamily="34" charset="-120"/>
              </a:rPr>
              <a:t>管理システムの案件一覧で案件を検索し、</a:t>
            </a:r>
            <a:endParaRPr lang="en-US" altLang="ja-JP" sz="1000">
              <a:solidFill>
                <a:srgbClr val="8A7272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Meiryo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ja-JP" altLang="en-US" sz="1000">
                <a:solidFill>
                  <a:srgbClr val="8A7272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ファイル　→　</a:t>
            </a:r>
            <a:r>
              <a:rPr lang="en-US" altLang="ja-JP" sz="1000">
                <a:solidFill>
                  <a:srgbClr val="8A7272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GPX</a:t>
            </a:r>
            <a:r>
              <a:rPr lang="ja-JP" altLang="en-US" sz="1000">
                <a:solidFill>
                  <a:srgbClr val="8A7272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→　ファイル出力　と押して</a:t>
            </a:r>
            <a:r>
              <a:rPr lang="en-US" altLang="ja-JP" sz="1000">
                <a:solidFill>
                  <a:srgbClr val="8A7272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GPX</a:t>
            </a:r>
            <a:r>
              <a:rPr lang="ja-JP" altLang="en-US" sz="1000">
                <a:solidFill>
                  <a:srgbClr val="8A7272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データ（</a:t>
            </a:r>
            <a:r>
              <a:rPr lang="en-US" altLang="ja-JP" sz="1000">
                <a:solidFill>
                  <a:srgbClr val="8A7272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.zip</a:t>
            </a:r>
            <a:r>
              <a:rPr lang="ja-JP" altLang="en-US" sz="1000">
                <a:solidFill>
                  <a:srgbClr val="8A7272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ファイル）を出力</a:t>
            </a:r>
            <a:endParaRPr lang="en-US" sz="1000" dirty="0">
              <a:solidFill>
                <a:srgbClr val="8A7272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24" name="図 23">
            <a:extLst>
              <a:ext uri="{FF2B5EF4-FFF2-40B4-BE49-F238E27FC236}">
                <a16:creationId xmlns:a16="http://schemas.microsoft.com/office/drawing/2014/main" id="{7498DC13-2F7D-240A-4B24-495E572EFA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508" y="1921763"/>
            <a:ext cx="5865729" cy="293827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96DE893C-CBDB-0D94-9F1E-DA1A5A8DA937}"/>
              </a:ext>
            </a:extLst>
          </p:cNvPr>
          <p:cNvSpPr/>
          <p:nvPr/>
        </p:nvSpPr>
        <p:spPr>
          <a:xfrm>
            <a:off x="5141535" y="3205808"/>
            <a:ext cx="545690" cy="272845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9" name="図 28">
            <a:extLst>
              <a:ext uri="{FF2B5EF4-FFF2-40B4-BE49-F238E27FC236}">
                <a16:creationId xmlns:a16="http://schemas.microsoft.com/office/drawing/2014/main" id="{31F8AD25-4076-A650-E0A8-3F1DAA74C22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4832"/>
          <a:stretch>
            <a:fillRect/>
          </a:stretch>
        </p:blipFill>
        <p:spPr>
          <a:xfrm>
            <a:off x="6253148" y="2999330"/>
            <a:ext cx="2612353" cy="186070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F1B0BDF2-A981-D2D7-94B0-0C5C27FBD1CB}"/>
              </a:ext>
            </a:extLst>
          </p:cNvPr>
          <p:cNvSpPr/>
          <p:nvPr/>
        </p:nvSpPr>
        <p:spPr>
          <a:xfrm>
            <a:off x="7380832" y="3950601"/>
            <a:ext cx="452282" cy="189271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矢印: 下 31">
            <a:extLst>
              <a:ext uri="{FF2B5EF4-FFF2-40B4-BE49-F238E27FC236}">
                <a16:creationId xmlns:a16="http://schemas.microsoft.com/office/drawing/2014/main" id="{BDCCB8E8-90BB-4F54-BCA4-C82494E64FD9}"/>
              </a:ext>
            </a:extLst>
          </p:cNvPr>
          <p:cNvSpPr/>
          <p:nvPr/>
        </p:nvSpPr>
        <p:spPr>
          <a:xfrm>
            <a:off x="5265420" y="2689860"/>
            <a:ext cx="342900" cy="309470"/>
          </a:xfrm>
          <a:prstGeom prst="down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矢印: 下 34">
            <a:extLst>
              <a:ext uri="{FF2B5EF4-FFF2-40B4-BE49-F238E27FC236}">
                <a16:creationId xmlns:a16="http://schemas.microsoft.com/office/drawing/2014/main" id="{68E29274-6653-A16C-33D9-D5EE9F1D8112}"/>
              </a:ext>
            </a:extLst>
          </p:cNvPr>
          <p:cNvSpPr/>
          <p:nvPr/>
        </p:nvSpPr>
        <p:spPr>
          <a:xfrm>
            <a:off x="7387874" y="3532930"/>
            <a:ext cx="342900" cy="309470"/>
          </a:xfrm>
          <a:prstGeom prst="down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Shape 10">
            <a:extLst>
              <a:ext uri="{FF2B5EF4-FFF2-40B4-BE49-F238E27FC236}">
                <a16:creationId xmlns:a16="http://schemas.microsoft.com/office/drawing/2014/main" id="{34839F78-1DC5-0D36-FEDA-1B4CF30715B0}"/>
              </a:ext>
            </a:extLst>
          </p:cNvPr>
          <p:cNvSpPr/>
          <p:nvPr/>
        </p:nvSpPr>
        <p:spPr>
          <a:xfrm>
            <a:off x="510540" y="940308"/>
            <a:ext cx="91440" cy="91440"/>
          </a:xfrm>
          <a:prstGeom prst="ellipse">
            <a:avLst/>
          </a:prstGeom>
          <a:solidFill>
            <a:srgbClr val="8B1C1C"/>
          </a:solidFill>
          <a:ln w="12700">
            <a:solidFill>
              <a:srgbClr val="8B1C1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230058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8B1C1C"/>
          </a:solidFill>
          <a:ln w="12700">
            <a:solidFill>
              <a:srgbClr val="8B1C1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01168" y="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FFFFFF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GPX</a:t>
            </a:r>
            <a:r>
              <a:rPr lang="ja-JP" altLang="en-US" sz="1500" b="1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データの読み込み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64008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A72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手順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246888" cy="246888"/>
          </a:xfrm>
          <a:prstGeom prst="ellipse">
            <a:avLst/>
          </a:prstGeom>
          <a:solidFill>
            <a:srgbClr val="8B1C1C"/>
          </a:solidFill>
          <a:ln w="12700">
            <a:solidFill>
              <a:srgbClr val="8B1C1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274320" y="84124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12648" y="822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0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ヘッダーの </a:t>
            </a:r>
            <a:r>
              <a:rPr lang="en-US" sz="1100" b="1" dirty="0">
                <a:solidFill>
                  <a:srgbClr val="8B1C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「📂 GPX フォルダを開く」</a:t>
            </a:r>
            <a:r>
              <a:rPr lang="en-US" sz="1100" dirty="0">
                <a:solidFill>
                  <a:srgbClr val="1C10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ボタンをクリック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382268"/>
            <a:ext cx="246888" cy="246888"/>
          </a:xfrm>
          <a:prstGeom prst="ellipse">
            <a:avLst/>
          </a:prstGeom>
          <a:solidFill>
            <a:srgbClr val="8B1C1C"/>
          </a:solidFill>
          <a:ln w="12700">
            <a:solidFill>
              <a:srgbClr val="8B1C1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274320" y="138226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2648" y="13639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C10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GPX</a:t>
            </a:r>
            <a:r>
              <a:rPr lang="ja-JP" altLang="en-US" sz="1100">
                <a:solidFill>
                  <a:srgbClr val="1C10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</a:t>
            </a:r>
            <a:r>
              <a:rPr lang="en-US" altLang="ja-JP" sz="1100">
                <a:solidFill>
                  <a:srgbClr val="1C10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.zip</a:t>
            </a:r>
            <a:r>
              <a:rPr lang="ja-JP" altLang="en-US" sz="1100">
                <a:solidFill>
                  <a:srgbClr val="1C10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ファイル</a:t>
            </a:r>
            <a:r>
              <a:rPr lang="en-US" sz="1100">
                <a:solidFill>
                  <a:srgbClr val="1C10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を選択する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1969008"/>
            <a:ext cx="246888" cy="246888"/>
          </a:xfrm>
          <a:prstGeom prst="ellipse">
            <a:avLst/>
          </a:prstGeom>
          <a:solidFill>
            <a:srgbClr val="8B1C1C"/>
          </a:solidFill>
          <a:ln w="12700">
            <a:solidFill>
              <a:srgbClr val="8B1C1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274320" y="196900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2648" y="1950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0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進捗バーが表示され、完了するとサイドバーに端末一覧が現れる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858768" y="798576"/>
            <a:ext cx="5029200" cy="3642360"/>
          </a:xfrm>
          <a:prstGeom prst="rect">
            <a:avLst/>
          </a:prstGeom>
          <a:solidFill>
            <a:srgbClr val="F6F2F2"/>
          </a:solidFill>
          <a:ln w="19050">
            <a:solidFill>
              <a:srgbClr val="DDD0D0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矢印: 下 26">
            <a:extLst>
              <a:ext uri="{FF2B5EF4-FFF2-40B4-BE49-F238E27FC236}">
                <a16:creationId xmlns:a16="http://schemas.microsoft.com/office/drawing/2014/main" id="{50D94575-A45F-D6F1-0E07-4395C8745579}"/>
              </a:ext>
            </a:extLst>
          </p:cNvPr>
          <p:cNvSpPr/>
          <p:nvPr/>
        </p:nvSpPr>
        <p:spPr>
          <a:xfrm>
            <a:off x="4980013" y="943132"/>
            <a:ext cx="342900" cy="309470"/>
          </a:xfrm>
          <a:prstGeom prst="down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3" name="図 32">
            <a:extLst>
              <a:ext uri="{FF2B5EF4-FFF2-40B4-BE49-F238E27FC236}">
                <a16:creationId xmlns:a16="http://schemas.microsoft.com/office/drawing/2014/main" id="{BCB32172-4C98-6B15-A7C7-0B4BE668D5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8879" y="1392936"/>
            <a:ext cx="4794789" cy="2851222"/>
          </a:xfrm>
          <a:prstGeom prst="rect">
            <a:avLst/>
          </a:prstGeom>
        </p:spPr>
      </p:pic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A35C2AAA-F857-5408-F925-BB9AB779F14A}"/>
              </a:ext>
            </a:extLst>
          </p:cNvPr>
          <p:cNvSpPr/>
          <p:nvPr/>
        </p:nvSpPr>
        <p:spPr>
          <a:xfrm>
            <a:off x="4753258" y="1344042"/>
            <a:ext cx="789530" cy="321740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AA983D1B-B4E4-EDEB-A637-9A2A633BC9A1}"/>
              </a:ext>
            </a:extLst>
          </p:cNvPr>
          <p:cNvSpPr txBox="1"/>
          <p:nvPr/>
        </p:nvSpPr>
        <p:spPr>
          <a:xfrm>
            <a:off x="609600" y="2615212"/>
            <a:ext cx="3108960" cy="3123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ja-JP" altLang="en-US" sz="1100">
                <a:latin typeface="Meiryo" pitchFamily="34" charset="0"/>
                <a:ea typeface="Meiryo" pitchFamily="34" charset="-122"/>
                <a:cs typeface="Meiryo" pitchFamily="34" charset="-120"/>
              </a:rPr>
              <a:t>軌跡は</a:t>
            </a:r>
            <a:r>
              <a:rPr lang="en-US" altLang="ja-JP" sz="1100">
                <a:latin typeface="Meiryo" pitchFamily="34" charset="0"/>
                <a:ea typeface="Meiryo" pitchFamily="34" charset="-122"/>
                <a:cs typeface="Meiryo" pitchFamily="34" charset="-120"/>
              </a:rPr>
              <a:t>移動速度</a:t>
            </a:r>
            <a:r>
              <a:rPr lang="ja-JP" altLang="en-US" sz="1100">
                <a:latin typeface="Meiryo" pitchFamily="34" charset="0"/>
                <a:ea typeface="Meiryo" pitchFamily="34" charset="-122"/>
                <a:cs typeface="Meiryo" pitchFamily="34" charset="-120"/>
              </a:rPr>
              <a:t>が速いほど</a:t>
            </a:r>
            <a:r>
              <a:rPr lang="en-US" altLang="ja-JP" sz="1100">
                <a:latin typeface="Meiryo" pitchFamily="34" charset="0"/>
                <a:ea typeface="Meiryo" pitchFamily="34" charset="-122"/>
                <a:cs typeface="Meiryo" pitchFamily="34" charset="-120"/>
              </a:rPr>
              <a:t>透過度</a:t>
            </a:r>
            <a:r>
              <a:rPr lang="ja-JP" altLang="en-US" sz="1100">
                <a:latin typeface="Meiryo" pitchFamily="34" charset="0"/>
                <a:ea typeface="Meiryo" pitchFamily="34" charset="-122"/>
                <a:cs typeface="Meiryo" pitchFamily="34" charset="-120"/>
              </a:rPr>
              <a:t>を高く表示</a:t>
            </a:r>
            <a:endParaRPr lang="en-US" altLang="ja-JP" sz="1100" dirty="0"/>
          </a:p>
        </p:txBody>
      </p:sp>
      <p:sp>
        <p:nvSpPr>
          <p:cNvPr id="38" name="Shape 14">
            <a:extLst>
              <a:ext uri="{FF2B5EF4-FFF2-40B4-BE49-F238E27FC236}">
                <a16:creationId xmlns:a16="http://schemas.microsoft.com/office/drawing/2014/main" id="{9A2F251D-2A51-825A-4D99-403E8E8C06A5}"/>
              </a:ext>
            </a:extLst>
          </p:cNvPr>
          <p:cNvSpPr/>
          <p:nvPr/>
        </p:nvSpPr>
        <p:spPr>
          <a:xfrm>
            <a:off x="274320" y="2647216"/>
            <a:ext cx="246888" cy="246888"/>
          </a:xfrm>
          <a:prstGeom prst="ellipse">
            <a:avLst/>
          </a:prstGeom>
          <a:solidFill>
            <a:srgbClr val="8B1C1C"/>
          </a:solidFill>
          <a:ln w="12700">
            <a:solidFill>
              <a:srgbClr val="8B1C1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Text 15">
            <a:extLst>
              <a:ext uri="{FF2B5EF4-FFF2-40B4-BE49-F238E27FC236}">
                <a16:creationId xmlns:a16="http://schemas.microsoft.com/office/drawing/2014/main" id="{A9EABB5A-BFFD-F1D3-8F06-04E0B849620A}"/>
              </a:ext>
            </a:extLst>
          </p:cNvPr>
          <p:cNvSpPr/>
          <p:nvPr/>
        </p:nvSpPr>
        <p:spPr>
          <a:xfrm>
            <a:off x="274320" y="264721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000" dirty="0"/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81B21626-B925-D050-AA06-476BF39EC7C1}"/>
              </a:ext>
            </a:extLst>
          </p:cNvPr>
          <p:cNvSpPr txBox="1"/>
          <p:nvPr/>
        </p:nvSpPr>
        <p:spPr>
          <a:xfrm>
            <a:off x="640080" y="2932177"/>
            <a:ext cx="2991612" cy="1547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ja-JP" altLang="ja-JP" sz="900" b="0">
                <a:solidFill>
                  <a:srgbClr val="657B83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0〜3.75 km/h</a:t>
            </a:r>
            <a:r>
              <a:rPr lang="en-US" altLang="ja-JP" sz="900" b="0">
                <a:solidFill>
                  <a:srgbClr val="657B83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	</a:t>
            </a:r>
            <a:r>
              <a:rPr lang="ja-JP" altLang="ja-JP" sz="900" b="0">
                <a:solidFill>
                  <a:srgbClr val="657B83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|0.90（最濃）|</a:t>
            </a:r>
            <a:r>
              <a:rPr lang="ja-JP" altLang="en-US" sz="900" b="0">
                <a:solidFill>
                  <a:srgbClr val="657B83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r>
              <a:rPr lang="ja-JP" altLang="en-US" sz="900">
                <a:solidFill>
                  <a:srgbClr val="657B8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←　徒歩移動</a:t>
            </a:r>
            <a:endParaRPr lang="ja-JP" altLang="ja-JP" sz="900" b="0">
              <a:solidFill>
                <a:srgbClr val="657B83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lnSpc>
                <a:spcPts val="1425"/>
              </a:lnSpc>
              <a:buNone/>
            </a:pPr>
            <a:r>
              <a:rPr lang="ja-JP" altLang="ja-JP" sz="900" b="0">
                <a:solidFill>
                  <a:srgbClr val="657B83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3.75〜7.5</a:t>
            </a:r>
            <a:r>
              <a:rPr lang="en-US" altLang="ja-JP" sz="900" b="0">
                <a:solidFill>
                  <a:srgbClr val="657B83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	</a:t>
            </a:r>
            <a:r>
              <a:rPr lang="ja-JP" altLang="ja-JP" sz="900" b="0">
                <a:solidFill>
                  <a:srgbClr val="657B83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|0.79|</a:t>
            </a:r>
          </a:p>
          <a:p>
            <a:pPr>
              <a:lnSpc>
                <a:spcPts val="1425"/>
              </a:lnSpc>
              <a:buNone/>
            </a:pPr>
            <a:r>
              <a:rPr lang="ja-JP" altLang="ja-JP" sz="900" b="0">
                <a:solidFill>
                  <a:srgbClr val="657B83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7.5〜11.25</a:t>
            </a:r>
            <a:r>
              <a:rPr lang="en-US" altLang="ja-JP" sz="900" b="0">
                <a:solidFill>
                  <a:srgbClr val="657B83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	</a:t>
            </a:r>
            <a:r>
              <a:rPr lang="ja-JP" altLang="ja-JP" sz="900" b="0">
                <a:solidFill>
                  <a:srgbClr val="657B83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|0.68|</a:t>
            </a:r>
          </a:p>
          <a:p>
            <a:pPr>
              <a:lnSpc>
                <a:spcPts val="1425"/>
              </a:lnSpc>
              <a:buNone/>
            </a:pPr>
            <a:r>
              <a:rPr lang="ja-JP" altLang="ja-JP" sz="900" b="0">
                <a:solidFill>
                  <a:srgbClr val="657B83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11.25〜15.0</a:t>
            </a:r>
            <a:r>
              <a:rPr lang="en-US" altLang="ja-JP" sz="900" b="0">
                <a:solidFill>
                  <a:srgbClr val="657B83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	</a:t>
            </a:r>
            <a:r>
              <a:rPr lang="ja-JP" altLang="ja-JP" sz="900" b="0">
                <a:solidFill>
                  <a:srgbClr val="657B83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|0.57|</a:t>
            </a:r>
          </a:p>
          <a:p>
            <a:pPr>
              <a:lnSpc>
                <a:spcPts val="1425"/>
              </a:lnSpc>
              <a:buNone/>
            </a:pPr>
            <a:r>
              <a:rPr lang="ja-JP" altLang="ja-JP" sz="900" b="0">
                <a:solidFill>
                  <a:srgbClr val="657B83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15.0〜18.75</a:t>
            </a:r>
            <a:r>
              <a:rPr lang="en-US" altLang="ja-JP" sz="900" b="0">
                <a:solidFill>
                  <a:srgbClr val="657B83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	</a:t>
            </a:r>
            <a:r>
              <a:rPr lang="ja-JP" altLang="ja-JP" sz="900" b="0">
                <a:solidFill>
                  <a:srgbClr val="657B83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|0.46|</a:t>
            </a:r>
          </a:p>
          <a:p>
            <a:pPr>
              <a:lnSpc>
                <a:spcPts val="1425"/>
              </a:lnSpc>
              <a:buNone/>
            </a:pPr>
            <a:r>
              <a:rPr lang="ja-JP" altLang="ja-JP" sz="900" b="0">
                <a:solidFill>
                  <a:srgbClr val="657B83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18.75〜22.5</a:t>
            </a:r>
            <a:r>
              <a:rPr lang="en-US" altLang="ja-JP" sz="900" b="0">
                <a:solidFill>
                  <a:srgbClr val="657B83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	</a:t>
            </a:r>
            <a:r>
              <a:rPr lang="ja-JP" altLang="ja-JP" sz="900" b="0">
                <a:solidFill>
                  <a:srgbClr val="657B83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|0.35|</a:t>
            </a:r>
          </a:p>
          <a:p>
            <a:pPr>
              <a:lnSpc>
                <a:spcPts val="1425"/>
              </a:lnSpc>
              <a:buNone/>
            </a:pPr>
            <a:r>
              <a:rPr lang="ja-JP" altLang="ja-JP" sz="900" b="0">
                <a:solidFill>
                  <a:srgbClr val="657B83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22.5〜26.25</a:t>
            </a:r>
            <a:r>
              <a:rPr lang="en-US" altLang="ja-JP" sz="900" b="0">
                <a:solidFill>
                  <a:srgbClr val="657B83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	</a:t>
            </a:r>
            <a:r>
              <a:rPr lang="ja-JP" altLang="ja-JP" sz="900" b="0">
                <a:solidFill>
                  <a:srgbClr val="657B83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|0.24|</a:t>
            </a:r>
          </a:p>
          <a:p>
            <a:pPr>
              <a:lnSpc>
                <a:spcPts val="1425"/>
              </a:lnSpc>
              <a:buNone/>
            </a:pPr>
            <a:r>
              <a:rPr lang="ja-JP" altLang="ja-JP" sz="900" b="0">
                <a:solidFill>
                  <a:srgbClr val="657B83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26.25〜30+ </a:t>
            </a:r>
            <a:r>
              <a:rPr lang="en-US" altLang="ja-JP" sz="900">
                <a:solidFill>
                  <a:srgbClr val="657B8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	</a:t>
            </a:r>
            <a:r>
              <a:rPr lang="ja-JP" altLang="ja-JP" sz="900" b="0">
                <a:solidFill>
                  <a:srgbClr val="657B83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|0.12（最薄）|</a:t>
            </a:r>
            <a:r>
              <a:rPr lang="ja-JP" altLang="en-US" sz="900" b="0">
                <a:solidFill>
                  <a:srgbClr val="657B83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　←　車移動</a:t>
            </a:r>
            <a:endParaRPr lang="ja-JP" altLang="ja-JP" sz="900" b="0">
              <a:solidFill>
                <a:srgbClr val="657B83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8B1C1C"/>
          </a:solidFill>
          <a:ln w="12700">
            <a:solidFill>
              <a:srgbClr val="8B1C1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01168" y="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FFFFFF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端末の表示 / 非表示・絞り込み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64008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A72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サイドバー操作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932688"/>
            <a:ext cx="91440" cy="91440"/>
          </a:xfrm>
          <a:prstGeom prst="ellipse">
            <a:avLst/>
          </a:prstGeom>
          <a:solidFill>
            <a:srgbClr val="8B1C1C"/>
          </a:solidFill>
          <a:ln w="12700">
            <a:solidFill>
              <a:srgbClr val="8B1C1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0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トグルで</a:t>
            </a:r>
            <a:r>
              <a:rPr lang="en-US" sz="1100" b="1" dirty="0">
                <a:solidFill>
                  <a:srgbClr val="8B1C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グループ単位</a:t>
            </a:r>
            <a:r>
              <a:rPr lang="en-US" sz="1100" dirty="0">
                <a:solidFill>
                  <a:srgbClr val="1C10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（モデル名）の表示 / 非表示を切替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435608"/>
            <a:ext cx="91440" cy="91440"/>
          </a:xfrm>
          <a:prstGeom prst="ellipse">
            <a:avLst/>
          </a:prstGeom>
          <a:solidFill>
            <a:srgbClr val="8B1C1C"/>
          </a:solidFill>
          <a:ln w="12700">
            <a:solidFill>
              <a:srgbClr val="8B1C1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457200" y="132588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0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モデル名をクリックすると</a:t>
            </a:r>
            <a:r>
              <a:rPr lang="en-US" sz="1100" b="1">
                <a:solidFill>
                  <a:srgbClr val="8B1C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▾ </a:t>
            </a:r>
            <a:r>
              <a:rPr lang="ja-JP" altLang="en-US" sz="1100" b="1">
                <a:solidFill>
                  <a:srgbClr val="8B1C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</a:t>
            </a:r>
            <a:r>
              <a:rPr lang="en-US" sz="1100" b="1">
                <a:solidFill>
                  <a:srgbClr val="8B1C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展開</a:t>
            </a:r>
            <a:r>
              <a:rPr lang="en-US" sz="1100">
                <a:solidFill>
                  <a:srgbClr val="1C10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し、日付ごとのファイルを個別</a:t>
            </a:r>
            <a:r>
              <a:rPr lang="ja-JP" altLang="en-US" sz="1100">
                <a:solidFill>
                  <a:srgbClr val="1C10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表示</a:t>
            </a:r>
            <a:r>
              <a:rPr lang="en-US" sz="1100">
                <a:solidFill>
                  <a:srgbClr val="1C10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可能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938528"/>
            <a:ext cx="91440" cy="91440"/>
          </a:xfrm>
          <a:prstGeom prst="ellipse">
            <a:avLst/>
          </a:prstGeom>
          <a:solidFill>
            <a:srgbClr val="8B1C1C"/>
          </a:solidFill>
          <a:ln w="12700">
            <a:solidFill>
              <a:srgbClr val="8B1C1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457200" y="182880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0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テキストボックスで</a:t>
            </a:r>
            <a:r>
              <a:rPr lang="en-US" sz="1100" b="1" dirty="0">
                <a:solidFill>
                  <a:srgbClr val="8B1C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端末番号絞り込み</a:t>
            </a:r>
            <a:r>
              <a:rPr lang="en-US" sz="1100" dirty="0">
                <a:solidFill>
                  <a:srgbClr val="1C10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検索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441448"/>
            <a:ext cx="91440" cy="91440"/>
          </a:xfrm>
          <a:prstGeom prst="ellipse">
            <a:avLst/>
          </a:prstGeom>
          <a:solidFill>
            <a:srgbClr val="8B1C1C"/>
          </a:solidFill>
          <a:ln w="12700">
            <a:solidFill>
              <a:srgbClr val="8B1C1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457200" y="233172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0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「全て表示」「全て非表示」で一括操作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" y="292608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A72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トグルの状態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74320" y="3191256"/>
            <a:ext cx="384048" cy="219456"/>
          </a:xfrm>
          <a:prstGeom prst="roundRect">
            <a:avLst>
              <a:gd name="adj" fmla="val 50000"/>
            </a:avLst>
          </a:prstGeom>
          <a:solidFill>
            <a:srgbClr val="8B1C1C"/>
          </a:solidFill>
          <a:ln w="12700">
            <a:solidFill>
              <a:srgbClr val="8B1C1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467700" y="321868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749808" y="31729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0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全ファイルを表示中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575304"/>
            <a:ext cx="384048" cy="219456"/>
          </a:xfrm>
          <a:prstGeom prst="roundRect">
            <a:avLst>
              <a:gd name="adj" fmla="val 50000"/>
            </a:avLst>
          </a:prstGeom>
          <a:solidFill>
            <a:srgbClr val="8A7272"/>
          </a:solidFill>
          <a:ln w="12700">
            <a:solidFill>
              <a:srgbClr val="8A727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386759" y="3602736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749808" y="35570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0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一部のファイルのみ表示中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959352"/>
            <a:ext cx="384048" cy="219456"/>
          </a:xfrm>
          <a:prstGeom prst="roundRect">
            <a:avLst>
              <a:gd name="adj" fmla="val 50000"/>
            </a:avLst>
          </a:prstGeom>
          <a:solidFill>
            <a:srgbClr val="DDD0D0"/>
          </a:solidFill>
          <a:ln w="12700">
            <a:solidFill>
              <a:srgbClr val="DDD0D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301752" y="3986784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749808" y="39410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0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全ファイルを非表示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434840"/>
            <a:ext cx="3200400" cy="457200"/>
          </a:xfrm>
          <a:prstGeom prst="rect">
            <a:avLst/>
          </a:prstGeom>
          <a:solidFill>
            <a:srgbClr val="F1EBEB"/>
          </a:solidFill>
          <a:ln w="12700">
            <a:solidFill>
              <a:srgbClr val="F1EB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274320" y="4434840"/>
            <a:ext cx="36576" cy="457200"/>
          </a:xfrm>
          <a:prstGeom prst="rect">
            <a:avLst/>
          </a:prstGeom>
          <a:solidFill>
            <a:srgbClr val="8B1C1C"/>
          </a:solidFill>
          <a:ln w="12700">
            <a:solidFill>
              <a:srgbClr val="8B1C1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365760" y="44348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72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展開リストでは各ファイルの</a:t>
            </a:r>
            <a:r>
              <a:rPr lang="en-US" sz="900" b="1" dirty="0">
                <a:solidFill>
                  <a:srgbClr val="1C10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開始日時</a:t>
            </a:r>
            <a:r>
              <a:rPr lang="en-US" sz="900" dirty="0">
                <a:solidFill>
                  <a:srgbClr val="8A72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を表示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840480" y="1234440"/>
            <a:ext cx="5029200" cy="3200400"/>
          </a:xfrm>
          <a:prstGeom prst="rect">
            <a:avLst/>
          </a:prstGeom>
          <a:solidFill>
            <a:srgbClr val="F6F2F2"/>
          </a:solidFill>
          <a:ln w="19050">
            <a:solidFill>
              <a:srgbClr val="DDD0D0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1" name="図 30">
            <a:extLst>
              <a:ext uri="{FF2B5EF4-FFF2-40B4-BE49-F238E27FC236}">
                <a16:creationId xmlns:a16="http://schemas.microsoft.com/office/drawing/2014/main" id="{257CB52D-BB06-CEE2-A94E-8504B51757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5344" y="1408938"/>
            <a:ext cx="4861897" cy="2861116"/>
          </a:xfrm>
          <a:prstGeom prst="rect">
            <a:avLst/>
          </a:prstGeom>
        </p:spPr>
      </p:pic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47D7E5F8-247B-068C-5699-C80E7F4C4ED6}"/>
              </a:ext>
            </a:extLst>
          </p:cNvPr>
          <p:cNvSpPr/>
          <p:nvPr/>
        </p:nvSpPr>
        <p:spPr>
          <a:xfrm>
            <a:off x="3840480" y="2015216"/>
            <a:ext cx="1341120" cy="517672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矢印: 下 34">
            <a:extLst>
              <a:ext uri="{FF2B5EF4-FFF2-40B4-BE49-F238E27FC236}">
                <a16:creationId xmlns:a16="http://schemas.microsoft.com/office/drawing/2014/main" id="{127C7E79-B25D-A33F-874D-09B085BA68C1}"/>
              </a:ext>
            </a:extLst>
          </p:cNvPr>
          <p:cNvSpPr/>
          <p:nvPr/>
        </p:nvSpPr>
        <p:spPr>
          <a:xfrm>
            <a:off x="4339590" y="1582625"/>
            <a:ext cx="342900" cy="309470"/>
          </a:xfrm>
          <a:prstGeom prst="down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8B1C1C"/>
          </a:solidFill>
          <a:ln w="12700">
            <a:solidFill>
              <a:srgbClr val="8B1C1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01168" y="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FFFFFF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境界データの読み込み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64008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A72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手順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246888" cy="246888"/>
          </a:xfrm>
          <a:prstGeom prst="ellipse">
            <a:avLst/>
          </a:prstGeom>
          <a:solidFill>
            <a:srgbClr val="8B1C1C"/>
          </a:solidFill>
          <a:ln w="12700">
            <a:solidFill>
              <a:srgbClr val="8B1C1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274320" y="84124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12648" y="8229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C10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</a:t>
            </a:r>
            <a:r>
              <a:rPr lang="en-US" sz="1100" b="1">
                <a:solidFill>
                  <a:srgbClr val="8B1C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境界データ読み込み</a:t>
            </a:r>
            <a:r>
              <a:rPr lang="en-US" sz="1100" dirty="0">
                <a:solidFill>
                  <a:srgbClr val="1C10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」ボタンをクリック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306068"/>
            <a:ext cx="246888" cy="246888"/>
          </a:xfrm>
          <a:prstGeom prst="ellipse">
            <a:avLst/>
          </a:prstGeom>
          <a:solidFill>
            <a:srgbClr val="8B1C1C"/>
          </a:solidFill>
          <a:ln w="12700">
            <a:solidFill>
              <a:srgbClr val="8B1C1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274320" y="130606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2648" y="12877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ja-JP" altLang="en-US" sz="1100">
                <a:latin typeface="メイリオ" panose="020B0604030504040204" pitchFamily="50" charset="-128"/>
                <a:ea typeface="メイリオ" panose="020B0604030504040204" pitchFamily="50" charset="-128"/>
                <a:cs typeface="Courier New" pitchFamily="34" charset="-120"/>
              </a:rPr>
              <a:t>都道府県境界</a:t>
            </a:r>
            <a:r>
              <a:rPr lang="en-US" altLang="ja-JP" sz="1100">
                <a:latin typeface="メイリオ" panose="020B0604030504040204" pitchFamily="50" charset="-128"/>
                <a:ea typeface="メイリオ" panose="020B0604030504040204" pitchFamily="50" charset="-128"/>
                <a:cs typeface="Courier New" pitchFamily="34" charset="-120"/>
              </a:rPr>
              <a:t>.zip</a:t>
            </a:r>
            <a:r>
              <a:rPr lang="ja-JP" altLang="en-US" sz="1100">
                <a:latin typeface="メイリオ" panose="020B0604030504040204" pitchFamily="50" charset="-128"/>
                <a:ea typeface="メイリオ" panose="020B0604030504040204" pitchFamily="50" charset="-128"/>
                <a:cs typeface="Courier New" pitchFamily="34" charset="-120"/>
              </a:rPr>
              <a:t>データ</a:t>
            </a:r>
            <a:r>
              <a:rPr lang="ja-JP" altLang="en-US" sz="1100">
                <a:solidFill>
                  <a:srgbClr val="8B1C1C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ourier New" pitchFamily="34" charset="-120"/>
              </a:rPr>
              <a:t>（</a:t>
            </a:r>
            <a:r>
              <a:rPr lang="en-US" sz="1100">
                <a:solidFill>
                  <a:srgbClr val="8B1C1C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ourier New" pitchFamily="34" charset="-120"/>
              </a:rPr>
              <a:t>A002005212020D</a:t>
            </a:r>
          </a:p>
          <a:p>
            <a:r>
              <a:rPr lang="en-US" sz="1100">
                <a:solidFill>
                  <a:srgbClr val="8B1C1C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ourier New" pitchFamily="34" charset="-120"/>
              </a:rPr>
              <a:t>DSWC01_</a:t>
            </a:r>
            <a:r>
              <a:rPr lang="ja-JP" altLang="en-US" sz="1100">
                <a:solidFill>
                  <a:srgbClr val="8B1C1C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ourier New" pitchFamily="34" charset="-120"/>
              </a:rPr>
              <a:t>北海道</a:t>
            </a:r>
            <a:r>
              <a:rPr lang="en-US" altLang="ja-JP" sz="1100">
                <a:solidFill>
                  <a:srgbClr val="8B1C1C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ourier New" pitchFamily="34" charset="-120"/>
              </a:rPr>
              <a:t>-</a:t>
            </a:r>
            <a:r>
              <a:rPr lang="en-US" sz="1100">
                <a:solidFill>
                  <a:srgbClr val="8B1C1C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ourier New" pitchFamily="34" charset="-120"/>
              </a:rPr>
              <a:t>JGD2011.zip</a:t>
            </a:r>
            <a:r>
              <a:rPr lang="ja-JP" altLang="en-US" sz="1100">
                <a:solidFill>
                  <a:srgbClr val="8B1C1C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ourier New" pitchFamily="34" charset="-120"/>
              </a:rPr>
              <a:t>など）</a:t>
            </a:r>
            <a:r>
              <a:rPr lang="en-US" sz="1100">
                <a:solidFill>
                  <a:srgbClr val="1C101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 pitchFamily="34" charset="-120"/>
              </a:rPr>
              <a:t>を選択</a:t>
            </a:r>
            <a:endParaRPr lang="en-US" sz="11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74320" y="1900428"/>
            <a:ext cx="246888" cy="246888"/>
          </a:xfrm>
          <a:prstGeom prst="ellipse">
            <a:avLst/>
          </a:prstGeom>
          <a:solidFill>
            <a:srgbClr val="8B1C1C"/>
          </a:solidFill>
          <a:ln w="12700">
            <a:solidFill>
              <a:srgbClr val="8B1C1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274320" y="190042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2648" y="18821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0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市区町村ごとのポリゴンが地図に重なって表示され、左パネルに一覧が現れる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" y="309298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A72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サイドバーのコントロール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74320" y="3385590"/>
            <a:ext cx="91440" cy="91440"/>
          </a:xfrm>
          <a:prstGeom prst="ellipse">
            <a:avLst/>
          </a:prstGeom>
          <a:solidFill>
            <a:srgbClr val="8B1C1C"/>
          </a:solidFill>
          <a:ln w="12700">
            <a:solidFill>
              <a:srgbClr val="8B1C1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457200" y="327586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0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トグルで市区町村ごとに表示 / 非表示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769638"/>
            <a:ext cx="91440" cy="91440"/>
          </a:xfrm>
          <a:prstGeom prst="ellipse">
            <a:avLst/>
          </a:prstGeom>
          <a:solidFill>
            <a:srgbClr val="8B1C1C"/>
          </a:solidFill>
          <a:ln w="12700">
            <a:solidFill>
              <a:srgbClr val="8B1C1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457200" y="365991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0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テキストで市区町村名を絞り込み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4153686"/>
            <a:ext cx="91440" cy="91440"/>
          </a:xfrm>
          <a:prstGeom prst="ellipse">
            <a:avLst/>
          </a:prstGeom>
          <a:solidFill>
            <a:srgbClr val="8B1C1C"/>
          </a:solidFill>
          <a:ln w="12700">
            <a:solidFill>
              <a:srgbClr val="8B1C1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457200" y="404395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1C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塗り濃度</a:t>
            </a:r>
            <a:r>
              <a:rPr lang="en-US" sz="1100" dirty="0">
                <a:solidFill>
                  <a:srgbClr val="1C10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スライダー（0〜100%）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4537734"/>
            <a:ext cx="91440" cy="91440"/>
          </a:xfrm>
          <a:prstGeom prst="ellipse">
            <a:avLst/>
          </a:prstGeom>
          <a:solidFill>
            <a:srgbClr val="8B1C1C"/>
          </a:solidFill>
          <a:ln w="12700">
            <a:solidFill>
              <a:srgbClr val="8B1C1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457200" y="442800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C10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世帯数を自動集計</a:t>
            </a:r>
            <a:r>
              <a:rPr lang="en-US" sz="1100" dirty="0">
                <a:solidFill>
                  <a:srgbClr val="1C10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・表示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840480" y="851916"/>
            <a:ext cx="5029200" cy="3918204"/>
          </a:xfrm>
          <a:prstGeom prst="rect">
            <a:avLst/>
          </a:prstGeom>
          <a:solidFill>
            <a:srgbClr val="F6F2F2"/>
          </a:solidFill>
          <a:ln w="19050">
            <a:solidFill>
              <a:srgbClr val="DDD0D0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1" name="図 30">
            <a:extLst>
              <a:ext uri="{FF2B5EF4-FFF2-40B4-BE49-F238E27FC236}">
                <a16:creationId xmlns:a16="http://schemas.microsoft.com/office/drawing/2014/main" id="{46BCCB4D-C450-7BEA-77CA-CFD6AD7C07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1791413"/>
            <a:ext cx="4877856" cy="2895600"/>
          </a:xfrm>
          <a:prstGeom prst="rect">
            <a:avLst/>
          </a:prstGeom>
        </p:spPr>
      </p:pic>
      <p:sp>
        <p:nvSpPr>
          <p:cNvPr id="33" name="矢印: 下 32">
            <a:extLst>
              <a:ext uri="{FF2B5EF4-FFF2-40B4-BE49-F238E27FC236}">
                <a16:creationId xmlns:a16="http://schemas.microsoft.com/office/drawing/2014/main" id="{1750FB51-9FB0-AC8D-CF44-70AA858523B9}"/>
              </a:ext>
            </a:extLst>
          </p:cNvPr>
          <p:cNvSpPr/>
          <p:nvPr/>
        </p:nvSpPr>
        <p:spPr>
          <a:xfrm>
            <a:off x="5535930" y="930353"/>
            <a:ext cx="342900" cy="309470"/>
          </a:xfrm>
          <a:prstGeom prst="down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0" name="図 39">
            <a:extLst>
              <a:ext uri="{FF2B5EF4-FFF2-40B4-BE49-F238E27FC236}">
                <a16:creationId xmlns:a16="http://schemas.microsoft.com/office/drawing/2014/main" id="{F7079CC0-CD27-FD5A-D72B-9ECE55C88E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8216" y="1351788"/>
            <a:ext cx="4861560" cy="190500"/>
          </a:xfrm>
          <a:prstGeom prst="rect">
            <a:avLst/>
          </a:prstGeom>
        </p:spPr>
      </p:pic>
      <p:sp>
        <p:nvSpPr>
          <p:cNvPr id="36" name="四角形: 角を丸くする 35">
            <a:extLst>
              <a:ext uri="{FF2B5EF4-FFF2-40B4-BE49-F238E27FC236}">
                <a16:creationId xmlns:a16="http://schemas.microsoft.com/office/drawing/2014/main" id="{6F6EC849-24FF-773E-0281-39511D566CD7}"/>
              </a:ext>
            </a:extLst>
          </p:cNvPr>
          <p:cNvSpPr/>
          <p:nvPr/>
        </p:nvSpPr>
        <p:spPr>
          <a:xfrm>
            <a:off x="5345430" y="1277649"/>
            <a:ext cx="723900" cy="321740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二等辺三角形 40">
            <a:extLst>
              <a:ext uri="{FF2B5EF4-FFF2-40B4-BE49-F238E27FC236}">
                <a16:creationId xmlns:a16="http://schemas.microsoft.com/office/drawing/2014/main" id="{BDBEA838-8EAA-B835-D845-CE17FDBD88AC}"/>
              </a:ext>
            </a:extLst>
          </p:cNvPr>
          <p:cNvSpPr/>
          <p:nvPr/>
        </p:nvSpPr>
        <p:spPr>
          <a:xfrm rot="10800000">
            <a:off x="6111240" y="1648662"/>
            <a:ext cx="487680" cy="128728"/>
          </a:xfrm>
          <a:prstGeom prst="triangl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365B7875-E4DD-AF79-D678-C334577296EF}"/>
              </a:ext>
            </a:extLst>
          </p:cNvPr>
          <p:cNvSpPr/>
          <p:nvPr/>
        </p:nvSpPr>
        <p:spPr>
          <a:xfrm>
            <a:off x="457200" y="2405460"/>
            <a:ext cx="32644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6213" indent="-176213">
              <a:buNone/>
            </a:pPr>
            <a:r>
              <a:rPr lang="en-US" altLang="ja-JP" sz="1100">
                <a:solidFill>
                  <a:srgbClr val="1C1010"/>
                </a:solidFill>
                <a:latin typeface="Meiryo" pitchFamily="34" charset="0"/>
                <a:ea typeface="Meiryo" pitchFamily="34" charset="-122"/>
              </a:rPr>
              <a:t>※</a:t>
            </a:r>
            <a:r>
              <a:rPr lang="ja-JP" altLang="en-US" sz="1100">
                <a:solidFill>
                  <a:srgbClr val="1C1010"/>
                </a:solidFill>
                <a:latin typeface="Meiryo" pitchFamily="34" charset="0"/>
                <a:ea typeface="Meiryo" pitchFamily="34" charset="-122"/>
              </a:rPr>
              <a:t>境界データは複数続けて読み込み可能（読み込みが多いと表示が重くなるので注意）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8B1C1C"/>
          </a:solidFill>
          <a:ln w="12700">
            <a:solidFill>
              <a:srgbClr val="8B1C1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01168" y="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FFFFFF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住所コードの読み込み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24028" y="966978"/>
            <a:ext cx="35890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A72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CSV フォーマット（文字コード: Shift-JIS）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159595"/>
              </p:ext>
            </p:extLst>
          </p:nvPr>
        </p:nvGraphicFramePr>
        <p:xfrm>
          <a:off x="274320" y="1173480"/>
          <a:ext cx="3627120" cy="1990344"/>
        </p:xfrm>
        <a:graphic>
          <a:graphicData uri="http://schemas.openxmlformats.org/drawingml/2006/table">
            <a:tbl>
              <a:tblPr/>
              <a:tblGrid>
                <a:gridCol w="403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08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32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879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Courier New" pitchFamily="34" charset="-120"/>
                        </a:rPr>
                        <a:t>列</a:t>
                      </a:r>
                      <a:endParaRPr lang="en-US" sz="10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2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Meiryo" pitchFamily="34" charset="-120"/>
                        </a:rPr>
                        <a:t>内容</a:t>
                      </a:r>
                      <a:endParaRPr lang="en-US" sz="10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  <a:cs typeface="Meiry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2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Meiryo" pitchFamily="34" charset="-120"/>
                        </a:rPr>
                        <a:t>備考</a:t>
                      </a:r>
                      <a:endParaRPr lang="en-US" sz="10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  <a:cs typeface="Meiry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2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7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8B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連番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A727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ヘッダー行あり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7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8B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住所コード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8B1C1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必須 (KEY_CODE)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7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8B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都道府県名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7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8B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市区町村名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7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8B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町丁目名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87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8B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統計上世帯数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8A727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数値</a:t>
                      </a:r>
                      <a:r>
                        <a:rPr lang="ja-JP" altLang="en-US" sz="1000">
                          <a:solidFill>
                            <a:srgbClr val="8A727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（整数）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87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8B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配達見込み世帯数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8A727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数値</a:t>
                      </a:r>
                      <a:r>
                        <a:rPr lang="ja-JP" altLang="en-US" sz="1000">
                          <a:solidFill>
                            <a:srgbClr val="8A727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（整数）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4"/>
          <p:cNvSpPr/>
          <p:nvPr/>
        </p:nvSpPr>
        <p:spPr>
          <a:xfrm>
            <a:off x="274320" y="338328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A72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手順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274320" y="3630168"/>
            <a:ext cx="246888" cy="246888"/>
          </a:xfrm>
          <a:prstGeom prst="ellipse">
            <a:avLst/>
          </a:prstGeom>
          <a:solidFill>
            <a:srgbClr val="8B1C1C"/>
          </a:solidFill>
          <a:ln w="12700">
            <a:solidFill>
              <a:srgbClr val="8B1C1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6"/>
          <p:cNvSpPr/>
          <p:nvPr/>
        </p:nvSpPr>
        <p:spPr>
          <a:xfrm>
            <a:off x="274320" y="363016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12648" y="35585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0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先に</a:t>
            </a:r>
            <a:r>
              <a:rPr lang="en-US" sz="1100" b="1" dirty="0">
                <a:solidFill>
                  <a:srgbClr val="1C10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境界データ</a:t>
            </a:r>
            <a:r>
              <a:rPr lang="en-US" sz="1100" dirty="0">
                <a:solidFill>
                  <a:srgbClr val="1C10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を読み込む（地図表示に必要）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74320" y="4105656"/>
            <a:ext cx="246888" cy="246888"/>
          </a:xfrm>
          <a:prstGeom prst="ellipse">
            <a:avLst/>
          </a:prstGeom>
          <a:solidFill>
            <a:srgbClr val="8B1C1C"/>
          </a:solidFill>
          <a:ln w="12700">
            <a:solidFill>
              <a:srgbClr val="8B1C1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9"/>
          <p:cNvSpPr/>
          <p:nvPr/>
        </p:nvSpPr>
        <p:spPr>
          <a:xfrm>
            <a:off x="274320" y="410565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12648" y="408736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0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</a:t>
            </a:r>
            <a:r>
              <a:rPr lang="en-US" sz="1100" b="1" dirty="0">
                <a:solidFill>
                  <a:srgbClr val="8B1C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📊 住所コード読み込み</a:t>
            </a:r>
            <a:r>
              <a:rPr lang="en-US" sz="1100" dirty="0">
                <a:solidFill>
                  <a:srgbClr val="1C10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」で CSV ファイルを選択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74320" y="4581144"/>
            <a:ext cx="246888" cy="246888"/>
          </a:xfrm>
          <a:prstGeom prst="ellipse">
            <a:avLst/>
          </a:prstGeom>
          <a:solidFill>
            <a:srgbClr val="8B1C1C"/>
          </a:solidFill>
          <a:ln w="12700">
            <a:solidFill>
              <a:srgbClr val="8B1C1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/>
          <p:nvPr/>
        </p:nvSpPr>
        <p:spPr>
          <a:xfrm>
            <a:off x="274320" y="458114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12648" y="4562856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0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KEY_CODE が一致した町丁目のみ地図に強調表示される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151376" y="594360"/>
            <a:ext cx="4809744" cy="4175760"/>
          </a:xfrm>
          <a:prstGeom prst="rect">
            <a:avLst/>
          </a:prstGeom>
          <a:solidFill>
            <a:srgbClr val="F6F2F2"/>
          </a:solidFill>
          <a:ln w="19050">
            <a:solidFill>
              <a:srgbClr val="DDD0D0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5" name="図 24">
            <a:extLst>
              <a:ext uri="{FF2B5EF4-FFF2-40B4-BE49-F238E27FC236}">
                <a16:creationId xmlns:a16="http://schemas.microsoft.com/office/drawing/2014/main" id="{8E4A3FE5-C8F6-ADF5-B566-0305A668DB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6252" y="1862007"/>
            <a:ext cx="4613428" cy="2729137"/>
          </a:xfrm>
          <a:prstGeom prst="rect">
            <a:avLst/>
          </a:prstGeom>
        </p:spPr>
      </p:pic>
      <p:sp>
        <p:nvSpPr>
          <p:cNvPr id="27" name="矢印: 下 26">
            <a:extLst>
              <a:ext uri="{FF2B5EF4-FFF2-40B4-BE49-F238E27FC236}">
                <a16:creationId xmlns:a16="http://schemas.microsoft.com/office/drawing/2014/main" id="{D92B9760-7E59-9DC1-ED1A-887724A506D0}"/>
              </a:ext>
            </a:extLst>
          </p:cNvPr>
          <p:cNvSpPr/>
          <p:nvPr/>
        </p:nvSpPr>
        <p:spPr>
          <a:xfrm>
            <a:off x="6412230" y="835995"/>
            <a:ext cx="342900" cy="309470"/>
          </a:xfrm>
          <a:prstGeom prst="down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Text 11">
            <a:extLst>
              <a:ext uri="{FF2B5EF4-FFF2-40B4-BE49-F238E27FC236}">
                <a16:creationId xmlns:a16="http://schemas.microsoft.com/office/drawing/2014/main" id="{F98AC589-DF6E-FABD-4C07-2ED24AC6CD38}"/>
              </a:ext>
            </a:extLst>
          </p:cNvPr>
          <p:cNvSpPr/>
          <p:nvPr/>
        </p:nvSpPr>
        <p:spPr>
          <a:xfrm>
            <a:off x="274320" y="572262"/>
            <a:ext cx="381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1100">
                <a:solidFill>
                  <a:srgbClr val="1C1010"/>
                </a:solidFill>
                <a:latin typeface="Meiryo" pitchFamily="34" charset="0"/>
                <a:ea typeface="Meiryo" pitchFamily="34" charset="-122"/>
              </a:rPr>
              <a:t>住所コード</a:t>
            </a:r>
            <a:r>
              <a:rPr lang="en-US" altLang="ja-JP" sz="1100">
                <a:solidFill>
                  <a:srgbClr val="1C1010"/>
                </a:solidFill>
                <a:latin typeface="Meiryo" pitchFamily="34" charset="0"/>
                <a:ea typeface="Meiryo" pitchFamily="34" charset="-122"/>
              </a:rPr>
              <a:t>CSV</a:t>
            </a:r>
            <a:r>
              <a:rPr lang="ja-JP" altLang="en-US" sz="1100">
                <a:solidFill>
                  <a:srgbClr val="1C1010"/>
                </a:solidFill>
                <a:latin typeface="Meiryo" pitchFamily="34" charset="0"/>
                <a:ea typeface="Meiryo" pitchFamily="34" charset="-122"/>
              </a:rPr>
              <a:t>ファイル（</a:t>
            </a:r>
            <a:r>
              <a:rPr lang="en-US" altLang="ja-JP" sz="1100">
                <a:solidFill>
                  <a:srgbClr val="1C1010"/>
                </a:solidFill>
                <a:latin typeface="Meiryo" pitchFamily="34" charset="0"/>
                <a:ea typeface="Meiryo" pitchFamily="34" charset="-122"/>
              </a:rPr>
              <a:t>JPMD</a:t>
            </a:r>
            <a:r>
              <a:rPr lang="ja-JP" altLang="en-US" sz="1100">
                <a:solidFill>
                  <a:srgbClr val="1C1010"/>
                </a:solidFill>
                <a:latin typeface="Meiryo" pitchFamily="34" charset="0"/>
                <a:ea typeface="Meiryo" pitchFamily="34" charset="-122"/>
              </a:rPr>
              <a:t>から提供）を読み込み、</a:t>
            </a:r>
            <a:endParaRPr lang="en-US" altLang="ja-JP" sz="1100">
              <a:solidFill>
                <a:srgbClr val="1C1010"/>
              </a:solidFill>
              <a:latin typeface="Meiryo" pitchFamily="34" charset="0"/>
              <a:ea typeface="Meiryo" pitchFamily="34" charset="-122"/>
            </a:endParaRPr>
          </a:p>
          <a:p>
            <a:pPr marL="0" indent="0">
              <a:buNone/>
            </a:pPr>
            <a:r>
              <a:rPr lang="ja-JP" altLang="en-US" sz="1100">
                <a:solidFill>
                  <a:srgbClr val="1C1010"/>
                </a:solidFill>
                <a:latin typeface="Meiryo" pitchFamily="34" charset="0"/>
                <a:ea typeface="Meiryo" pitchFamily="34" charset="-122"/>
              </a:rPr>
              <a:t>配布エリアの境界だけを表示</a:t>
            </a:r>
            <a:endParaRPr lang="en-US" sz="1100" dirty="0"/>
          </a:p>
        </p:txBody>
      </p:sp>
      <p:pic>
        <p:nvPicPr>
          <p:cNvPr id="42" name="図 41">
            <a:extLst>
              <a:ext uri="{FF2B5EF4-FFF2-40B4-BE49-F238E27FC236}">
                <a16:creationId xmlns:a16="http://schemas.microsoft.com/office/drawing/2014/main" id="{BAE31A97-969B-BEFE-81E2-00BD1C30CD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6252" y="1323814"/>
            <a:ext cx="4631716" cy="181494"/>
          </a:xfrm>
          <a:prstGeom prst="rect">
            <a:avLst/>
          </a:prstGeom>
        </p:spPr>
      </p:pic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767E092E-B32A-8B03-23D9-4A360E2C8E0F}"/>
              </a:ext>
            </a:extLst>
          </p:cNvPr>
          <p:cNvSpPr/>
          <p:nvPr/>
        </p:nvSpPr>
        <p:spPr>
          <a:xfrm>
            <a:off x="6221730" y="1224309"/>
            <a:ext cx="723900" cy="321740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二等辺三角形 43">
            <a:extLst>
              <a:ext uri="{FF2B5EF4-FFF2-40B4-BE49-F238E27FC236}">
                <a16:creationId xmlns:a16="http://schemas.microsoft.com/office/drawing/2014/main" id="{B30C79AA-90A0-7AED-262C-E49850F1C32A}"/>
              </a:ext>
            </a:extLst>
          </p:cNvPr>
          <p:cNvSpPr/>
          <p:nvPr/>
        </p:nvSpPr>
        <p:spPr>
          <a:xfrm rot="10800000">
            <a:off x="6221730" y="1682680"/>
            <a:ext cx="487680" cy="128728"/>
          </a:xfrm>
          <a:prstGeom prst="triangl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EB9E9-20F8-8555-9B43-59378A3E7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41C36D3-AF0C-F61C-9A10-DCBC012B1F28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8B1C1C"/>
          </a:solidFill>
          <a:ln w="12700">
            <a:solidFill>
              <a:srgbClr val="8B1C1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08E9662-E868-BCAA-1563-B8E2204B85D7}"/>
              </a:ext>
            </a:extLst>
          </p:cNvPr>
          <p:cNvSpPr/>
          <p:nvPr/>
        </p:nvSpPr>
        <p:spPr>
          <a:xfrm>
            <a:off x="201168" y="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FFFFFF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41504CE-ECF4-9E60-898A-9D3813A98B68}"/>
              </a:ext>
            </a:extLst>
          </p:cNvPr>
          <p:cNvSpPr/>
          <p:nvPr/>
        </p:nvSpPr>
        <p:spPr>
          <a:xfrm>
            <a:off x="658368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500" b="1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航空写真切り替え</a:t>
            </a:r>
            <a:endParaRPr lang="en-US" sz="1500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8A0592B0-2E44-0D4F-CA73-1C31FB635600}"/>
              </a:ext>
            </a:extLst>
          </p:cNvPr>
          <p:cNvSpPr/>
          <p:nvPr/>
        </p:nvSpPr>
        <p:spPr>
          <a:xfrm>
            <a:off x="4151376" y="594360"/>
            <a:ext cx="4809744" cy="4175760"/>
          </a:xfrm>
          <a:prstGeom prst="rect">
            <a:avLst/>
          </a:prstGeom>
          <a:solidFill>
            <a:srgbClr val="F6F2F2"/>
          </a:solidFill>
          <a:ln w="19050">
            <a:solidFill>
              <a:srgbClr val="DDD0D0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矢印: 下 26">
            <a:extLst>
              <a:ext uri="{FF2B5EF4-FFF2-40B4-BE49-F238E27FC236}">
                <a16:creationId xmlns:a16="http://schemas.microsoft.com/office/drawing/2014/main" id="{3A92FE44-8C39-44BF-A986-89AA0A9E5520}"/>
              </a:ext>
            </a:extLst>
          </p:cNvPr>
          <p:cNvSpPr/>
          <p:nvPr/>
        </p:nvSpPr>
        <p:spPr>
          <a:xfrm>
            <a:off x="6966585" y="828683"/>
            <a:ext cx="342900" cy="309470"/>
          </a:xfrm>
          <a:prstGeom prst="down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2" name="図 41">
            <a:extLst>
              <a:ext uri="{FF2B5EF4-FFF2-40B4-BE49-F238E27FC236}">
                <a16:creationId xmlns:a16="http://schemas.microsoft.com/office/drawing/2014/main" id="{EE29B266-6794-15DB-1582-F8472958B1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6252" y="1323814"/>
            <a:ext cx="4631716" cy="181494"/>
          </a:xfrm>
          <a:prstGeom prst="rect">
            <a:avLst/>
          </a:prstGeom>
        </p:spPr>
      </p:pic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A895707E-DE16-B404-8E90-48BD2020BD25}"/>
              </a:ext>
            </a:extLst>
          </p:cNvPr>
          <p:cNvSpPr/>
          <p:nvPr/>
        </p:nvSpPr>
        <p:spPr>
          <a:xfrm>
            <a:off x="6861810" y="1274194"/>
            <a:ext cx="552450" cy="321740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二等辺三角形 43">
            <a:extLst>
              <a:ext uri="{FF2B5EF4-FFF2-40B4-BE49-F238E27FC236}">
                <a16:creationId xmlns:a16="http://schemas.microsoft.com/office/drawing/2014/main" id="{B84E8F8E-97DC-A29A-D2B8-D8E61347C62F}"/>
              </a:ext>
            </a:extLst>
          </p:cNvPr>
          <p:cNvSpPr/>
          <p:nvPr/>
        </p:nvSpPr>
        <p:spPr>
          <a:xfrm rot="10800000">
            <a:off x="6312408" y="1643683"/>
            <a:ext cx="487680" cy="128728"/>
          </a:xfrm>
          <a:prstGeom prst="triangl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1" name="図 20">
            <a:extLst>
              <a:ext uri="{FF2B5EF4-FFF2-40B4-BE49-F238E27FC236}">
                <a16:creationId xmlns:a16="http://schemas.microsoft.com/office/drawing/2014/main" id="{DBFDB2B0-3603-F670-4B2B-2B8F67FF22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6252" y="1777390"/>
            <a:ext cx="4613428" cy="2733883"/>
          </a:xfrm>
          <a:prstGeom prst="rect">
            <a:avLst/>
          </a:prstGeom>
        </p:spPr>
      </p:pic>
      <p:sp>
        <p:nvSpPr>
          <p:cNvPr id="23" name="Text 3">
            <a:extLst>
              <a:ext uri="{FF2B5EF4-FFF2-40B4-BE49-F238E27FC236}">
                <a16:creationId xmlns:a16="http://schemas.microsoft.com/office/drawing/2014/main" id="{3293C8FD-1FC6-CEF4-03C8-0A32DDAC82C1}"/>
              </a:ext>
            </a:extLst>
          </p:cNvPr>
          <p:cNvSpPr/>
          <p:nvPr/>
        </p:nvSpPr>
        <p:spPr>
          <a:xfrm>
            <a:off x="274320" y="64008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A72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手順</a:t>
            </a:r>
            <a:endParaRPr lang="en-US" sz="800" dirty="0"/>
          </a:p>
        </p:txBody>
      </p:sp>
      <p:sp>
        <p:nvSpPr>
          <p:cNvPr id="26" name="Shape 4">
            <a:extLst>
              <a:ext uri="{FF2B5EF4-FFF2-40B4-BE49-F238E27FC236}">
                <a16:creationId xmlns:a16="http://schemas.microsoft.com/office/drawing/2014/main" id="{2957EB4B-CBD6-731E-5A94-9DEC7DC86DFC}"/>
              </a:ext>
            </a:extLst>
          </p:cNvPr>
          <p:cNvSpPr/>
          <p:nvPr/>
        </p:nvSpPr>
        <p:spPr>
          <a:xfrm>
            <a:off x="274320" y="841248"/>
            <a:ext cx="246888" cy="246888"/>
          </a:xfrm>
          <a:prstGeom prst="ellipse">
            <a:avLst/>
          </a:prstGeom>
          <a:solidFill>
            <a:srgbClr val="8B1C1C"/>
          </a:solidFill>
          <a:ln w="12700">
            <a:solidFill>
              <a:srgbClr val="8B1C1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4E4C20D6-B1A7-1B09-6C71-CA8AABB6E8A3}"/>
              </a:ext>
            </a:extLst>
          </p:cNvPr>
          <p:cNvSpPr/>
          <p:nvPr/>
        </p:nvSpPr>
        <p:spPr>
          <a:xfrm>
            <a:off x="274320" y="84124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000" dirty="0"/>
          </a:p>
        </p:txBody>
      </p:sp>
      <p:sp>
        <p:nvSpPr>
          <p:cNvPr id="32" name="Text 6">
            <a:extLst>
              <a:ext uri="{FF2B5EF4-FFF2-40B4-BE49-F238E27FC236}">
                <a16:creationId xmlns:a16="http://schemas.microsoft.com/office/drawing/2014/main" id="{935FB81F-C3B9-F27C-F558-A228673007E3}"/>
              </a:ext>
            </a:extLst>
          </p:cNvPr>
          <p:cNvSpPr/>
          <p:nvPr/>
        </p:nvSpPr>
        <p:spPr>
          <a:xfrm>
            <a:off x="612648" y="8229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C10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</a:t>
            </a:r>
            <a:r>
              <a:rPr lang="ja-JP" altLang="en-US" sz="1100" b="1">
                <a:solidFill>
                  <a:srgbClr val="8B1C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航空写真</a:t>
            </a:r>
            <a:r>
              <a:rPr lang="en-US" sz="1100">
                <a:solidFill>
                  <a:srgbClr val="1C10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」</a:t>
            </a:r>
            <a:r>
              <a:rPr lang="en-US" sz="1100" dirty="0">
                <a:solidFill>
                  <a:srgbClr val="1C10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ボタンをクリック</a:t>
            </a:r>
            <a:endParaRPr lang="en-US" sz="1100" dirty="0"/>
          </a:p>
        </p:txBody>
      </p:sp>
      <p:sp>
        <p:nvSpPr>
          <p:cNvPr id="35" name="Shape 10">
            <a:extLst>
              <a:ext uri="{FF2B5EF4-FFF2-40B4-BE49-F238E27FC236}">
                <a16:creationId xmlns:a16="http://schemas.microsoft.com/office/drawing/2014/main" id="{2194D14B-9510-7939-F5F4-533791509D5D}"/>
              </a:ext>
            </a:extLst>
          </p:cNvPr>
          <p:cNvSpPr/>
          <p:nvPr/>
        </p:nvSpPr>
        <p:spPr>
          <a:xfrm>
            <a:off x="274320" y="1443228"/>
            <a:ext cx="246888" cy="246888"/>
          </a:xfrm>
          <a:prstGeom prst="ellipse">
            <a:avLst/>
          </a:prstGeom>
          <a:solidFill>
            <a:srgbClr val="8B1C1C"/>
          </a:solidFill>
          <a:ln w="12700">
            <a:solidFill>
              <a:srgbClr val="8B1C1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2A36C7F0-8ED9-7A47-CFEA-85C233702F01}"/>
              </a:ext>
            </a:extLst>
          </p:cNvPr>
          <p:cNvSpPr/>
          <p:nvPr/>
        </p:nvSpPr>
        <p:spPr>
          <a:xfrm>
            <a:off x="274320" y="144322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000" dirty="0"/>
          </a:p>
        </p:txBody>
      </p:sp>
      <p:sp>
        <p:nvSpPr>
          <p:cNvPr id="39" name="Text 12">
            <a:extLst>
              <a:ext uri="{FF2B5EF4-FFF2-40B4-BE49-F238E27FC236}">
                <a16:creationId xmlns:a16="http://schemas.microsoft.com/office/drawing/2014/main" id="{EC2EA508-CEF1-7892-84E3-BE457FBAC5A9}"/>
              </a:ext>
            </a:extLst>
          </p:cNvPr>
          <p:cNvSpPr/>
          <p:nvPr/>
        </p:nvSpPr>
        <p:spPr>
          <a:xfrm>
            <a:off x="612648" y="14249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1100">
                <a:solidFill>
                  <a:srgbClr val="1C1010"/>
                </a:solidFill>
                <a:latin typeface="Meiryo" pitchFamily="34" charset="0"/>
                <a:ea typeface="Meiryo" pitchFamily="34" charset="-122"/>
              </a:rPr>
              <a:t>航空写真画面と地図画面との切り替えが可能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8655007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8B1C1C"/>
          </a:solidFill>
          <a:ln w="12700">
            <a:solidFill>
              <a:srgbClr val="8B1C1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01168" y="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FFFFFF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地図操作（クリック・ホバー・マーカー）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08432" y="632460"/>
            <a:ext cx="4023360" cy="2026920"/>
          </a:xfrm>
          <a:prstGeom prst="rect">
            <a:avLst/>
          </a:prstGeom>
          <a:solidFill>
            <a:srgbClr val="F6F2F2"/>
          </a:solidFill>
          <a:ln w="9525">
            <a:solidFill>
              <a:srgbClr val="DDD0D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573024" y="70561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📍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73024" y="9982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1C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クリック → 住所取得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3024" y="1207008"/>
            <a:ext cx="3960876" cy="502920"/>
          </a:xfrm>
          <a:prstGeom prst="rect">
            <a:avLst/>
          </a:prstGeom>
          <a:noFill/>
          <a:ln/>
        </p:spPr>
        <p:txBody>
          <a:bodyPr wrap="square" rtlCol="0" anchor="t" anchorCtr="0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C10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地図上をクリックすると</a:t>
            </a:r>
            <a:r>
              <a:rPr lang="en-US" sz="1000">
                <a:solidFill>
                  <a:srgbClr val="1C10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、ヘッダー右端に都道府県</a:t>
            </a:r>
            <a:r>
              <a:rPr lang="en-US" sz="1000" dirty="0">
                <a:solidFill>
                  <a:srgbClr val="1C10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・市区町村</a:t>
            </a:r>
            <a:r>
              <a:rPr lang="en-US" sz="1000">
                <a:solidFill>
                  <a:srgbClr val="1C10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・町丁目を表示。</a:t>
            </a:r>
            <a:r>
              <a:rPr lang="ja-JP" altLang="en-US" sz="1000">
                <a:solidFill>
                  <a:srgbClr val="1C10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表示欄をクリックするとテキストをコピー。</a:t>
            </a:r>
            <a:endParaRPr lang="en-US" sz="1000">
              <a:solidFill>
                <a:srgbClr val="1C1010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724400" y="632460"/>
            <a:ext cx="4023360" cy="2026920"/>
          </a:xfrm>
          <a:prstGeom prst="rect">
            <a:avLst/>
          </a:prstGeom>
          <a:solidFill>
            <a:srgbClr val="F6F2F2"/>
          </a:solidFill>
          <a:ln w="9525">
            <a:solidFill>
              <a:srgbClr val="DDD0D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4888992" y="70561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🖱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88992" y="9982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1C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ホバー → 端末情報ツールチップ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88992" y="1290828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t" anchorCtr="0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C10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軌跡の近くにマウスを置くと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C10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端末名・記録日時をポップアップ表示。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88992" y="212293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72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 ズームレベル 13 以上で有効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08432" y="2819400"/>
            <a:ext cx="4023360" cy="2026920"/>
          </a:xfrm>
          <a:prstGeom prst="rect">
            <a:avLst/>
          </a:prstGeom>
          <a:solidFill>
            <a:srgbClr val="F6F2F2"/>
          </a:solidFill>
          <a:ln w="9525">
            <a:solidFill>
              <a:srgbClr val="DDD0D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573024" y="2983992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  ■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73024" y="32766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1C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開始 / 終了マーカー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73024" y="356920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t" anchorCtr="0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C10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▶（開始）: GPX の最初の記録地点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C10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■（終了）: GPX の最後の記録地点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C10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端末カラーで色分けされます。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24400" y="2819400"/>
            <a:ext cx="4023360" cy="2026920"/>
          </a:xfrm>
          <a:prstGeom prst="rect">
            <a:avLst/>
          </a:prstGeom>
          <a:solidFill>
            <a:srgbClr val="F6F2F2"/>
          </a:solidFill>
          <a:ln w="9525">
            <a:solidFill>
              <a:srgbClr val="DDD0D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4789932" y="293827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◎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4888992" y="32766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1C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滞在マーカー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88992" y="356920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t" anchorCtr="0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C10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 分以上かつ半径 30m 以内に留まった地点を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C10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自動検出し ◎ マークを配置。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C10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ホバーで滞在開始〜終了時刻を表示。</a:t>
            </a:r>
            <a:endParaRPr lang="en-US" sz="1000" dirty="0"/>
          </a:p>
        </p:txBody>
      </p:sp>
      <p:sp>
        <p:nvSpPr>
          <p:cNvPr id="23" name="Text 5">
            <a:extLst>
              <a:ext uri="{FF2B5EF4-FFF2-40B4-BE49-F238E27FC236}">
                <a16:creationId xmlns:a16="http://schemas.microsoft.com/office/drawing/2014/main" id="{2C7D5246-1DF1-FAA3-A634-BD5AFC8888F3}"/>
              </a:ext>
            </a:extLst>
          </p:cNvPr>
          <p:cNvSpPr/>
          <p:nvPr/>
        </p:nvSpPr>
        <p:spPr>
          <a:xfrm>
            <a:off x="573024" y="18440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1200" b="1">
                <a:solidFill>
                  <a:srgbClr val="8B1C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ダブル</a:t>
            </a:r>
            <a:r>
              <a:rPr lang="en-US" sz="1200" b="1">
                <a:solidFill>
                  <a:srgbClr val="8B1C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クリック → </a:t>
            </a:r>
            <a:r>
              <a:rPr lang="ja-JP" altLang="en-US" sz="1200" b="1">
                <a:solidFill>
                  <a:srgbClr val="8B1C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グーグルマップを表示</a:t>
            </a:r>
            <a:endParaRPr lang="en-US" sz="1200" dirty="0"/>
          </a:p>
        </p:txBody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4B438A8F-351B-3485-0C5C-F6031BBEB01F}"/>
              </a:ext>
            </a:extLst>
          </p:cNvPr>
          <p:cNvSpPr/>
          <p:nvPr/>
        </p:nvSpPr>
        <p:spPr>
          <a:xfrm>
            <a:off x="573024" y="2052828"/>
            <a:ext cx="3960876" cy="502920"/>
          </a:xfrm>
          <a:prstGeom prst="rect">
            <a:avLst/>
          </a:prstGeom>
          <a:noFill/>
          <a:ln/>
        </p:spPr>
        <p:txBody>
          <a:bodyPr wrap="square" rtlCol="0" anchor="t" anchorCtr="0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>
                <a:solidFill>
                  <a:srgbClr val="1C10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地図上を</a:t>
            </a:r>
            <a:r>
              <a:rPr lang="ja-JP" altLang="en-US" sz="1000">
                <a:solidFill>
                  <a:srgbClr val="1C10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ダブル</a:t>
            </a:r>
            <a:r>
              <a:rPr lang="en-US" sz="1000">
                <a:solidFill>
                  <a:srgbClr val="1C10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クリックすると、</a:t>
            </a:r>
            <a:r>
              <a:rPr lang="ja-JP" altLang="en-US" sz="1000">
                <a:solidFill>
                  <a:srgbClr val="1C10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別タブで同じ位置のグーグルマップを表示。ストリートビューを見る場合等に使用。</a:t>
            </a:r>
            <a:endParaRPr lang="en-US" sz="1000">
              <a:solidFill>
                <a:srgbClr val="1C1010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A7143371-385D-809E-57C0-A08775FF7A6F}"/>
              </a:ext>
            </a:extLst>
          </p:cNvPr>
          <p:cNvSpPr/>
          <p:nvPr/>
        </p:nvSpPr>
        <p:spPr>
          <a:xfrm>
            <a:off x="633984" y="2959608"/>
            <a:ext cx="289560" cy="28956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ECE84773-17D9-DF1C-536E-AAFBD3A7BECD}"/>
              </a:ext>
            </a:extLst>
          </p:cNvPr>
          <p:cNvSpPr/>
          <p:nvPr/>
        </p:nvSpPr>
        <p:spPr>
          <a:xfrm>
            <a:off x="1011936" y="2955036"/>
            <a:ext cx="289560" cy="28956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8B1C1C"/>
          </a:solidFill>
          <a:ln w="12700">
            <a:solidFill>
              <a:srgbClr val="8B1C1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01168" y="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FFFFFF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よくある質問 / トラブルシューティング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56032" y="621792"/>
            <a:ext cx="8631936" cy="777240"/>
          </a:xfrm>
          <a:prstGeom prst="rect">
            <a:avLst/>
          </a:prstGeom>
          <a:solidFill>
            <a:srgbClr val="F6F2F2"/>
          </a:solidFill>
          <a:ln w="12700">
            <a:solidFill>
              <a:srgbClr val="F6F2F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347472" y="694944"/>
            <a:ext cx="256032" cy="201168"/>
          </a:xfrm>
          <a:prstGeom prst="rect">
            <a:avLst/>
          </a:prstGeom>
          <a:solidFill>
            <a:srgbClr val="8B1C1C"/>
          </a:solidFill>
          <a:ln w="12700">
            <a:solidFill>
              <a:srgbClr val="8B1C1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47472" y="69494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76656" y="67665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1C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GPX ファイルが読み込まれない、または端末が表示されない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" y="1005840"/>
            <a:ext cx="256032" cy="201168"/>
          </a:xfrm>
          <a:prstGeom prst="rect">
            <a:avLst/>
          </a:prstGeom>
          <a:solidFill>
            <a:srgbClr val="F1EBEB"/>
          </a:solidFill>
          <a:ln w="9525">
            <a:solidFill>
              <a:srgbClr val="C8900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347472" y="100584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90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76656" y="987552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C10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ファイルの拡張子が .zip（</a:t>
            </a:r>
            <a:r>
              <a:rPr lang="en-US" sz="1000" dirty="0">
                <a:solidFill>
                  <a:srgbClr val="1C10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小文字）</a:t>
            </a:r>
            <a:r>
              <a:rPr lang="en-US" sz="1000">
                <a:solidFill>
                  <a:srgbClr val="1C10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であるか確認してください。</a:t>
            </a:r>
          </a:p>
          <a:p>
            <a:pPr marL="0" indent="0">
              <a:buNone/>
            </a:pPr>
            <a:r>
              <a:rPr lang="ja-JP" altLang="en-US" sz="1000">
                <a:solidFill>
                  <a:srgbClr val="1C10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ファイルが</a:t>
            </a:r>
            <a:r>
              <a:rPr lang="en-US" altLang="ja-JP" sz="1000">
                <a:solidFill>
                  <a:srgbClr val="1C10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GPS</a:t>
            </a:r>
            <a:r>
              <a:rPr lang="ja-JP" altLang="en-US" sz="1000">
                <a:solidFill>
                  <a:srgbClr val="1C10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管理システムからダウンロードされたものかどうか確認してください。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032" y="1490472"/>
            <a:ext cx="8631936" cy="963168"/>
          </a:xfrm>
          <a:prstGeom prst="rect">
            <a:avLst/>
          </a:prstGeom>
          <a:solidFill>
            <a:srgbClr val="F6F2F2"/>
          </a:solidFill>
          <a:ln w="12700">
            <a:solidFill>
              <a:srgbClr val="F6F2F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347472" y="1563624"/>
            <a:ext cx="256032" cy="201168"/>
          </a:xfrm>
          <a:prstGeom prst="rect">
            <a:avLst/>
          </a:prstGeom>
          <a:solidFill>
            <a:srgbClr val="8B1C1C"/>
          </a:solidFill>
          <a:ln w="12700">
            <a:solidFill>
              <a:srgbClr val="8B1C1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347472" y="156362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76656" y="154533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1C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境界データを読み込んでも地図に何も表示されない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1874520"/>
            <a:ext cx="256032" cy="201168"/>
          </a:xfrm>
          <a:prstGeom prst="rect">
            <a:avLst/>
          </a:prstGeom>
          <a:solidFill>
            <a:srgbClr val="F1EBEB"/>
          </a:solidFill>
          <a:ln w="9525">
            <a:solidFill>
              <a:srgbClr val="C8900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347472" y="187452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90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76656" y="1856232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ja-JP" sz="1000">
                <a:solidFill>
                  <a:srgbClr val="1C10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ファイルの拡張子が .zip（小文字）であるか確認してください。</a:t>
            </a:r>
          </a:p>
          <a:p>
            <a:pPr marL="0" indent="0">
              <a:buNone/>
            </a:pPr>
            <a:r>
              <a:rPr lang="en-US" sz="1000">
                <a:solidFill>
                  <a:srgbClr val="1C10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ファイルが壊れている場合は e-Stat からダウンロードしてください</a:t>
            </a:r>
            <a:r>
              <a:rPr lang="en-US" sz="1000" dirty="0">
                <a:solidFill>
                  <a:srgbClr val="1C10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2580132"/>
            <a:ext cx="8631936" cy="777240"/>
          </a:xfrm>
          <a:prstGeom prst="rect">
            <a:avLst/>
          </a:prstGeom>
          <a:solidFill>
            <a:srgbClr val="F6F2F2"/>
          </a:solidFill>
          <a:ln w="12700">
            <a:solidFill>
              <a:srgbClr val="F6F2F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347472" y="2653284"/>
            <a:ext cx="256032" cy="201168"/>
          </a:xfrm>
          <a:prstGeom prst="rect">
            <a:avLst/>
          </a:prstGeom>
          <a:solidFill>
            <a:srgbClr val="8B1C1C"/>
          </a:solidFill>
          <a:ln w="12700">
            <a:solidFill>
              <a:srgbClr val="8B1C1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347472" y="265328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76656" y="263499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1C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CSV を読み込んでも町丁目ポリゴンが表示されない（灰色のまま）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7472" y="2964180"/>
            <a:ext cx="256032" cy="201168"/>
          </a:xfrm>
          <a:prstGeom prst="rect">
            <a:avLst/>
          </a:prstGeom>
          <a:solidFill>
            <a:srgbClr val="F1EBEB"/>
          </a:solidFill>
          <a:ln w="9525">
            <a:solidFill>
              <a:srgbClr val="C8900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347472" y="296418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90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76656" y="292377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Courier New" pitchFamily="34" charset="-120"/>
              </a:rPr>
              <a:t>先に都道府県境界</a:t>
            </a:r>
            <a:r>
              <a:rPr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Courier New" pitchFamily="34" charset="-120"/>
              </a:rPr>
              <a:t>.zip</a:t>
            </a:r>
            <a:r>
              <a:rPr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Courier New" pitchFamily="34" charset="-120"/>
              </a:rPr>
              <a:t>データ</a:t>
            </a:r>
            <a:r>
              <a:rPr lang="en-US" sz="1000">
                <a:solidFill>
                  <a:srgbClr val="1C10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を読み込んでください</a:t>
            </a:r>
            <a:r>
              <a:rPr lang="en-US" sz="1000" dirty="0">
                <a:solidFill>
                  <a:srgbClr val="1C10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。その後 CSV </a:t>
            </a:r>
            <a:r>
              <a:rPr lang="en-US" sz="1000">
                <a:solidFill>
                  <a:srgbClr val="1C10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を読み込むと、</a:t>
            </a:r>
            <a:r>
              <a:rPr lang="ja-JP" altLang="en-US" sz="1000">
                <a:solidFill>
                  <a:srgbClr val="1C10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住所コード</a:t>
            </a:r>
            <a:r>
              <a:rPr lang="en-US" sz="1000">
                <a:solidFill>
                  <a:srgbClr val="1C10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が一致した町丁目のみ色付きで表示されます</a:t>
            </a:r>
            <a:r>
              <a:rPr lang="en-US" sz="1000" dirty="0">
                <a:solidFill>
                  <a:srgbClr val="1C10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6032" y="3448812"/>
            <a:ext cx="8631936" cy="777240"/>
          </a:xfrm>
          <a:prstGeom prst="rect">
            <a:avLst/>
          </a:prstGeom>
          <a:solidFill>
            <a:srgbClr val="F6F2F2"/>
          </a:solidFill>
          <a:ln w="12700">
            <a:solidFill>
              <a:srgbClr val="F6F2F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347472" y="3521964"/>
            <a:ext cx="256032" cy="201168"/>
          </a:xfrm>
          <a:prstGeom prst="rect">
            <a:avLst/>
          </a:prstGeom>
          <a:solidFill>
            <a:srgbClr val="8B1C1C"/>
          </a:solidFill>
          <a:ln w="12700">
            <a:solidFill>
              <a:srgbClr val="8B1C1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347472" y="352196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76656" y="350367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1C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ホバーしても端末名が表示されない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47472" y="3832860"/>
            <a:ext cx="256032" cy="201168"/>
          </a:xfrm>
          <a:prstGeom prst="rect">
            <a:avLst/>
          </a:prstGeom>
          <a:solidFill>
            <a:srgbClr val="F1EBEB"/>
          </a:solidFill>
          <a:ln w="9525">
            <a:solidFill>
              <a:srgbClr val="C8900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347472" y="383286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90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76656" y="3773424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0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ズームレベルを 13 以上に拡大してください。ズームが低い場合は精度確保のため無効化しています。</a:t>
            </a:r>
            <a:endParaRPr lang="en-US" sz="1000" dirty="0"/>
          </a:p>
        </p:txBody>
      </p:sp>
      <p:sp>
        <p:nvSpPr>
          <p:cNvPr id="41" name="Text 24">
            <a:extLst>
              <a:ext uri="{FF2B5EF4-FFF2-40B4-BE49-F238E27FC236}">
                <a16:creationId xmlns:a16="http://schemas.microsoft.com/office/drawing/2014/main" id="{EF3F380C-3B63-5466-EC0A-A112BC9F8597}"/>
              </a:ext>
            </a:extLst>
          </p:cNvPr>
          <p:cNvSpPr/>
          <p:nvPr/>
        </p:nvSpPr>
        <p:spPr>
          <a:xfrm>
            <a:off x="4963668" y="1763268"/>
            <a:ext cx="38328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ja-JP" sz="900">
                <a:solidFill>
                  <a:srgbClr val="8B1C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e-Stat </a:t>
            </a:r>
            <a:r>
              <a:rPr lang="ja-JP" altLang="en-US" sz="900">
                <a:solidFill>
                  <a:srgbClr val="8B1C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境界データダウンロードページ</a:t>
            </a:r>
            <a:r>
              <a:rPr lang="en-US" sz="900">
                <a:solidFill>
                  <a:srgbClr val="8B1C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：</a:t>
            </a:r>
          </a:p>
          <a:p>
            <a:pPr marL="0" indent="0">
              <a:buNone/>
            </a:pPr>
            <a:r>
              <a:rPr lang="en-US" sz="900">
                <a:solidFill>
                  <a:srgbClr val="8A72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https://www.e-stat.go.jp/gis/statmap-search?page=1&amp;type=2&amp;aggregateUnitForBoundary=A&amp;toukeiCode=00200521&amp;toukeiYear=2020&amp;serveyId=A002005212020&amp;coordsys=1&amp;format=shape&amp;datum=2011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5714A-2B8C-5A8E-5C97-07C14690A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CB89798-FB8A-A192-E22B-AABB984DBC5C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8B1C1C"/>
          </a:solidFill>
          <a:ln w="12700">
            <a:solidFill>
              <a:srgbClr val="8B1C1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E1BD021-AD30-A3A5-3415-F9BAA49E5FA7}"/>
              </a:ext>
            </a:extLst>
          </p:cNvPr>
          <p:cNvSpPr/>
          <p:nvPr/>
        </p:nvSpPr>
        <p:spPr>
          <a:xfrm>
            <a:off x="201168" y="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FFFFFF">
                    <a:alpha val="55000"/>
                  </a:srgbClr>
                </a:solidFill>
                <a:latin typeface="Courier New" pitchFamily="34" charset="0"/>
                <a:cs typeface="Courier New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F54AC35-7902-0E87-251C-2066AF010494}"/>
              </a:ext>
            </a:extLst>
          </p:cNvPr>
          <p:cNvSpPr/>
          <p:nvPr/>
        </p:nvSpPr>
        <p:spPr>
          <a:xfrm>
            <a:off x="658368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500" b="1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更新情報</a:t>
            </a:r>
            <a:endParaRPr lang="en-US" sz="1500" dirty="0"/>
          </a:p>
        </p:txBody>
      </p:sp>
      <p:graphicFrame>
        <p:nvGraphicFramePr>
          <p:cNvPr id="37" name="表 36">
            <a:extLst>
              <a:ext uri="{FF2B5EF4-FFF2-40B4-BE49-F238E27FC236}">
                <a16:creationId xmlns:a16="http://schemas.microsoft.com/office/drawing/2014/main" id="{3BC5489D-10FE-0933-86B5-BA5C0E40D7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6876966"/>
              </p:ext>
            </p:extLst>
          </p:nvPr>
        </p:nvGraphicFramePr>
        <p:xfrm>
          <a:off x="433578" y="708660"/>
          <a:ext cx="8276844" cy="37388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048512">
                  <a:extLst>
                    <a:ext uri="{9D8B030D-6E8A-4147-A177-3AD203B41FA5}">
                      <a16:colId xmlns:a16="http://schemas.microsoft.com/office/drawing/2014/main" val="3039420868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895969847"/>
                    </a:ext>
                  </a:extLst>
                </a:gridCol>
                <a:gridCol w="6176772">
                  <a:extLst>
                    <a:ext uri="{9D8B030D-6E8A-4147-A177-3AD203B41FA5}">
                      <a16:colId xmlns:a16="http://schemas.microsoft.com/office/drawing/2014/main" val="592084481"/>
                    </a:ext>
                  </a:extLst>
                </a:gridCol>
              </a:tblGrid>
              <a:tr h="3327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b="0"/>
                        <a:t>日付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b="0"/>
                        <a:t>バージョン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b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更新内容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7993824"/>
                  </a:ext>
                </a:extLst>
              </a:tr>
              <a:tr h="332740">
                <a:tc>
                  <a:txBody>
                    <a:bodyPr/>
                    <a:lstStyle/>
                    <a:p>
                      <a:r>
                        <a:rPr kumimoji="1" lang="en-US" altLang="ja-JP" sz="1050"/>
                        <a:t>2026.6.18</a:t>
                      </a:r>
                      <a:endParaRPr kumimoji="1" lang="ja-JP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/>
                        <a:t>V2.0</a:t>
                      </a:r>
                      <a:endParaRPr kumimoji="1" lang="ja-JP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・政令指定都市の「区」が表示されていなかったバグを修正</a:t>
                      </a:r>
                      <a:endParaRPr kumimoji="1" lang="en-US" altLang="ja-JP" sz="105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r>
                        <a:rPr kumimoji="1" lang="ja-JP" altLang="en-US" sz="105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・都道府県境界</a:t>
                      </a:r>
                      <a:r>
                        <a:rPr kumimoji="1" lang="en-US" altLang="ja-JP" sz="105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.zip</a:t>
                      </a:r>
                      <a:r>
                        <a:rPr kumimoji="1" lang="ja-JP" altLang="en-US" sz="105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データを複数読み込めるように仕様変更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9476514"/>
                  </a:ext>
                </a:extLst>
              </a:tr>
              <a:tr h="332740">
                <a:tc>
                  <a:txBody>
                    <a:bodyPr/>
                    <a:lstStyle/>
                    <a:p>
                      <a:endParaRPr kumimoji="1" lang="ja-JP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1724860"/>
                  </a:ext>
                </a:extLst>
              </a:tr>
              <a:tr h="332740">
                <a:tc>
                  <a:txBody>
                    <a:bodyPr/>
                    <a:lstStyle/>
                    <a:p>
                      <a:endParaRPr kumimoji="1" lang="ja-JP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3797437"/>
                  </a:ext>
                </a:extLst>
              </a:tr>
              <a:tr h="332740">
                <a:tc>
                  <a:txBody>
                    <a:bodyPr/>
                    <a:lstStyle/>
                    <a:p>
                      <a:endParaRPr kumimoji="1" lang="ja-JP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7321066"/>
                  </a:ext>
                </a:extLst>
              </a:tr>
              <a:tr h="332740">
                <a:tc>
                  <a:txBody>
                    <a:bodyPr/>
                    <a:lstStyle/>
                    <a:p>
                      <a:endParaRPr kumimoji="1" lang="ja-JP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8491863"/>
                  </a:ext>
                </a:extLst>
              </a:tr>
              <a:tr h="332740">
                <a:tc>
                  <a:txBody>
                    <a:bodyPr/>
                    <a:lstStyle/>
                    <a:p>
                      <a:endParaRPr kumimoji="1" lang="ja-JP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0878111"/>
                  </a:ext>
                </a:extLst>
              </a:tr>
              <a:tr h="332740">
                <a:tc>
                  <a:txBody>
                    <a:bodyPr/>
                    <a:lstStyle/>
                    <a:p>
                      <a:endParaRPr kumimoji="1" lang="ja-JP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8069482"/>
                  </a:ext>
                </a:extLst>
              </a:tr>
              <a:tr h="332740">
                <a:tc>
                  <a:txBody>
                    <a:bodyPr/>
                    <a:lstStyle/>
                    <a:p>
                      <a:endParaRPr kumimoji="1" lang="ja-JP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076522"/>
                  </a:ext>
                </a:extLst>
              </a:tr>
              <a:tr h="332740">
                <a:tc>
                  <a:txBody>
                    <a:bodyPr/>
                    <a:lstStyle/>
                    <a:p>
                      <a:endParaRPr kumimoji="1" lang="ja-JP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235408"/>
                  </a:ext>
                </a:extLst>
              </a:tr>
              <a:tr h="332740">
                <a:tc>
                  <a:txBody>
                    <a:bodyPr/>
                    <a:lstStyle/>
                    <a:p>
                      <a:endParaRPr kumimoji="1" lang="ja-JP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55414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61354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738</Words>
  <Application>Microsoft Office PowerPoint</Application>
  <PresentationFormat>画面に合わせる (16:9)</PresentationFormat>
  <Paragraphs>189</Paragraphs>
  <Slides>11</Slides>
  <Notes>11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7" baseType="lpstr">
      <vt:lpstr>BIZ UDPゴシック</vt:lpstr>
      <vt:lpstr>メイリオ</vt:lpstr>
      <vt:lpstr>メイリオ</vt:lpstr>
      <vt:lpstr>Arial</vt:lpstr>
      <vt:lpstr>Courier New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谷口 良信</cp:lastModifiedBy>
  <cp:revision>74</cp:revision>
  <cp:lastPrinted>2026-06-15T12:25:54Z</cp:lastPrinted>
  <dcterms:created xsi:type="dcterms:W3CDTF">2026-06-05T14:16:17Z</dcterms:created>
  <dcterms:modified xsi:type="dcterms:W3CDTF">2026-06-18T13:01:30Z</dcterms:modified>
</cp:coreProperties>
</file>